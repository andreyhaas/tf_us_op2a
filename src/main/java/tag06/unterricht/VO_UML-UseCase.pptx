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7" r:id="rId5"/>
    <p:sldId id="258" r:id="rId6"/>
    <p:sldId id="260" r:id="rId7"/>
    <p:sldId id="293" r:id="rId8"/>
    <p:sldId id="261" r:id="rId9"/>
    <p:sldId id="279" r:id="rId10"/>
    <p:sldId id="268" r:id="rId11"/>
    <p:sldId id="280" r:id="rId12"/>
    <p:sldId id="281" r:id="rId13"/>
    <p:sldId id="282" r:id="rId14"/>
    <p:sldId id="294" r:id="rId15"/>
    <p:sldId id="283" r:id="rId16"/>
    <p:sldId id="295" r:id="rId17"/>
    <p:sldId id="296" r:id="rId18"/>
    <p:sldId id="297" r:id="rId19"/>
    <p:sldId id="298" r:id="rId20"/>
    <p:sldId id="259" r:id="rId2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110DAA-BB31-4ED0-AADC-05418653AE7A}" v="2" dt="2024-12-09T16:03:57.8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57" d="100"/>
          <a:sy n="57" d="100"/>
        </p:scale>
        <p:origin x="72" y="6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na Cirillo" userId="ff3c6fee-9458-4f54-8808-434556788b2e" providerId="ADAL" clId="{C7110DAA-BB31-4ED0-AADC-05418653AE7A}"/>
    <pc:docChg chg="custSel addSld modSld">
      <pc:chgData name="Sina Cirillo" userId="ff3c6fee-9458-4f54-8808-434556788b2e" providerId="ADAL" clId="{C7110DAA-BB31-4ED0-AADC-05418653AE7A}" dt="2024-12-09T16:04:00.347" v="16" actId="20577"/>
      <pc:docMkLst>
        <pc:docMk/>
      </pc:docMkLst>
      <pc:sldChg chg="mod modShow">
        <pc:chgData name="Sina Cirillo" userId="ff3c6fee-9458-4f54-8808-434556788b2e" providerId="ADAL" clId="{C7110DAA-BB31-4ED0-AADC-05418653AE7A}" dt="2024-12-09T15:57:45.213" v="0" actId="729"/>
        <pc:sldMkLst>
          <pc:docMk/>
          <pc:sldMk cId="1970022514" sldId="261"/>
        </pc:sldMkLst>
      </pc:sldChg>
      <pc:sldChg chg="addSp delSp modSp new mod">
        <pc:chgData name="Sina Cirillo" userId="ff3c6fee-9458-4f54-8808-434556788b2e" providerId="ADAL" clId="{C7110DAA-BB31-4ED0-AADC-05418653AE7A}" dt="2024-12-09T16:04:00.347" v="16" actId="20577"/>
        <pc:sldMkLst>
          <pc:docMk/>
          <pc:sldMk cId="2652767946" sldId="298"/>
        </pc:sldMkLst>
        <pc:spChg chg="del">
          <ac:chgData name="Sina Cirillo" userId="ff3c6fee-9458-4f54-8808-434556788b2e" providerId="ADAL" clId="{C7110DAA-BB31-4ED0-AADC-05418653AE7A}" dt="2024-12-09T16:03:34.668" v="4" actId="478"/>
          <ac:spMkLst>
            <pc:docMk/>
            <pc:sldMk cId="2652767946" sldId="298"/>
            <ac:spMk id="2" creationId="{A0E727B3-3DE0-1618-A53C-AA810B07DF71}"/>
          </ac:spMkLst>
        </pc:spChg>
        <pc:spChg chg="del">
          <ac:chgData name="Sina Cirillo" userId="ff3c6fee-9458-4f54-8808-434556788b2e" providerId="ADAL" clId="{C7110DAA-BB31-4ED0-AADC-05418653AE7A}" dt="2024-12-09T16:03:36.484" v="5" actId="478"/>
          <ac:spMkLst>
            <pc:docMk/>
            <pc:sldMk cId="2652767946" sldId="298"/>
            <ac:spMk id="6" creationId="{6C81DEE1-55AC-C392-AC66-6696E906831B}"/>
          </ac:spMkLst>
        </pc:spChg>
        <pc:spChg chg="del">
          <ac:chgData name="Sina Cirillo" userId="ff3c6fee-9458-4f54-8808-434556788b2e" providerId="ADAL" clId="{C7110DAA-BB31-4ED0-AADC-05418653AE7A}" dt="2024-12-09T16:03:28.487" v="2" actId="478"/>
          <ac:spMkLst>
            <pc:docMk/>
            <pc:sldMk cId="2652767946" sldId="298"/>
            <ac:spMk id="7" creationId="{FD9FBB2E-2104-91A2-17EF-B5F95262CAEB}"/>
          </ac:spMkLst>
        </pc:spChg>
        <pc:spChg chg="add mod">
          <ac:chgData name="Sina Cirillo" userId="ff3c6fee-9458-4f54-8808-434556788b2e" providerId="ADAL" clId="{C7110DAA-BB31-4ED0-AADC-05418653AE7A}" dt="2024-12-09T16:03:49.972" v="9" actId="14100"/>
          <ac:spMkLst>
            <pc:docMk/>
            <pc:sldMk cId="2652767946" sldId="298"/>
            <ac:spMk id="10" creationId="{857B8E34-10BD-2663-F3AD-C6198D0E6412}"/>
          </ac:spMkLst>
        </pc:spChg>
        <pc:spChg chg="add mod">
          <ac:chgData name="Sina Cirillo" userId="ff3c6fee-9458-4f54-8808-434556788b2e" providerId="ADAL" clId="{C7110DAA-BB31-4ED0-AADC-05418653AE7A}" dt="2024-12-09T16:04:00.347" v="16" actId="20577"/>
          <ac:spMkLst>
            <pc:docMk/>
            <pc:sldMk cId="2652767946" sldId="298"/>
            <ac:spMk id="11" creationId="{E414F449-A8AF-9367-E649-8DB47480E4F5}"/>
          </ac:spMkLst>
        </pc:spChg>
        <pc:picChg chg="add mod">
          <ac:chgData name="Sina Cirillo" userId="ff3c6fee-9458-4f54-8808-434556788b2e" providerId="ADAL" clId="{C7110DAA-BB31-4ED0-AADC-05418653AE7A}" dt="2024-12-09T16:03:40.420" v="7" actId="14100"/>
          <ac:picMkLst>
            <pc:docMk/>
            <pc:sldMk cId="2652767946" sldId="298"/>
            <ac:picMk id="9" creationId="{D0C875FF-BE43-6C6D-8186-A9B07B15C5CF}"/>
          </ac:picMkLst>
        </pc:pic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09.12.2024</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2899352684"/>
      </p:ext>
    </p:extLst>
  </p:cSld>
  <p:clrMapOvr>
    <a:masterClrMapping/>
  </p:clrMapOvr>
  <p:extLst>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09.12.2024</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a:solidFill>
                  <a:schemeClr val="tx1"/>
                </a:solidFill>
                <a:latin typeface="+mn-lt"/>
              </a:rPr>
              <a:t>Untertitel</a:t>
            </a: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a:t>Bild durch klick auf das Symbol hinzufügen und in den Hintergrund verschieben.</a:t>
            </a:r>
          </a:p>
        </p:txBody>
      </p:sp>
    </p:spTree>
    <p:extLst>
      <p:ext uri="{BB962C8B-B14F-4D97-AF65-F5344CB8AC3E}">
        <p14:creationId xmlns:p14="http://schemas.microsoft.com/office/powerpoint/2010/main" val="4022750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09.12.2024</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a:t>01</a:t>
            </a:r>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a:t>Das erste Thema/Tag</a:t>
            </a:r>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1.1 </a:t>
            </a:r>
            <a:br>
              <a:rPr lang="de-DE" dirty="0"/>
            </a:br>
            <a:r>
              <a:rPr lang="de-DE" dirty="0"/>
              <a:t>Oder das Thema untergliedert werden</a:t>
            </a:r>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a:t>02</a:t>
            </a:r>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a:t>Das zweite Thema/Tag</a:t>
            </a:r>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2.1 </a:t>
            </a:r>
            <a:br>
              <a:rPr lang="de-DE" dirty="0"/>
            </a:br>
            <a:r>
              <a:rPr lang="de-DE" dirty="0"/>
              <a:t>Oder das Thema untergliedert werden</a:t>
            </a:r>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a:t>03</a:t>
            </a:r>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a:t>Das dritte Thema/Tag</a:t>
            </a:r>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3.1 </a:t>
            </a:r>
            <a:br>
              <a:rPr lang="de-DE" dirty="0"/>
            </a:br>
            <a:r>
              <a:rPr lang="de-DE" dirty="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a:t>04</a:t>
            </a:r>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a:t>Das vierte Thema/Tag</a:t>
            </a:r>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4.1 </a:t>
            </a:r>
            <a:br>
              <a:rPr lang="de-DE" dirty="0"/>
            </a:br>
            <a:r>
              <a:rPr lang="de-DE" dirty="0"/>
              <a:t>Oder das Thema untergliedert werden</a:t>
            </a:r>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a:t>05</a:t>
            </a:r>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a:t>Das fünfte Thema/Tag</a:t>
            </a:r>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5.1 </a:t>
            </a:r>
            <a:br>
              <a:rPr lang="de-DE" dirty="0"/>
            </a:br>
            <a:r>
              <a:rPr lang="de-DE" dirty="0"/>
              <a:t>Oder das Thema untergliedert werden</a:t>
            </a:r>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a:t>Themenübersicht</a:t>
            </a:r>
          </a:p>
        </p:txBody>
      </p:sp>
    </p:spTree>
    <p:extLst>
      <p:ext uri="{BB962C8B-B14F-4D97-AF65-F5344CB8AC3E}">
        <p14:creationId xmlns:p14="http://schemas.microsoft.com/office/powerpoint/2010/main" val="1456772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a:t>Lernziele</a:t>
            </a:r>
          </a:p>
        </p:txBody>
      </p:sp>
    </p:spTree>
    <p:extLst>
      <p:ext uri="{BB962C8B-B14F-4D97-AF65-F5344CB8AC3E}">
        <p14:creationId xmlns:p14="http://schemas.microsoft.com/office/powerpoint/2010/main" val="2628408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a:t>Lernziele</a:t>
            </a:r>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Tree>
    <p:extLst>
      <p:ext uri="{BB962C8B-B14F-4D97-AF65-F5344CB8AC3E}">
        <p14:creationId xmlns:p14="http://schemas.microsoft.com/office/powerpoint/2010/main" val="79210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09.12.2024</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a:t>Thementitel</a:t>
            </a:r>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408718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a:t>Bild durch klick auf das Symbol hinzufügen und in den Hintergrund verschieben.</a:t>
            </a:r>
          </a:p>
          <a:p>
            <a:endParaRPr lang="de-DE" dirty="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09.12.2024</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a:t>Thementitel</a:t>
            </a:r>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2786703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EE6B0DF4-9D6B-4CDB-97A0-C9570C62FA77}" type="datetime1">
              <a:rPr lang="de-DE" smtClean="0"/>
              <a:t>09.12.2024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a:t>Formatvorlagen des Textmasters bearbeiten</a:t>
            </a:r>
          </a:p>
        </p:txBody>
      </p:sp>
    </p:spTree>
    <p:extLst>
      <p:ext uri="{BB962C8B-B14F-4D97-AF65-F5344CB8AC3E}">
        <p14:creationId xmlns:p14="http://schemas.microsoft.com/office/powerpoint/2010/main" val="120893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49B7AE18-FA3D-4C6C-87A7-F7D224EBB6B4}" type="datetime1">
              <a:rPr lang="de-DE" smtClean="0"/>
              <a:t>09.12.2024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a:t>Optional kann hier eine zweite Überschrift eingefügt werden.</a:t>
            </a:r>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a:t>Optional kann hier eine zweite Überschrift eingefügt werden.</a:t>
            </a:r>
          </a:p>
        </p:txBody>
      </p:sp>
    </p:spTree>
    <p:extLst>
      <p:ext uri="{BB962C8B-B14F-4D97-AF65-F5344CB8AC3E}">
        <p14:creationId xmlns:p14="http://schemas.microsoft.com/office/powerpoint/2010/main" val="3510658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03DF2EA-616A-4F49-A635-283653D9B8E0}" type="datetime1">
              <a:rPr lang="de-DE" smtClean="0"/>
              <a:t>09.12.2024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56881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371A257-B4BD-49B9-8C71-F79D07B630C8}" type="datetime1">
              <a:rPr lang="de-DE" smtClean="0"/>
              <a:t>09.12.2024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a:t>Formatvorlagen des Textmasters bearbeiten</a:t>
            </a:r>
          </a:p>
        </p:txBody>
      </p:sp>
    </p:spTree>
    <p:extLst>
      <p:ext uri="{BB962C8B-B14F-4D97-AF65-F5344CB8AC3E}">
        <p14:creationId xmlns:p14="http://schemas.microsoft.com/office/powerpoint/2010/main" val="3610325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09.12.2024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354862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09.12.2024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a:t>Formatvorlagen des Textmasters bearbeiten</a:t>
            </a:r>
          </a:p>
        </p:txBody>
      </p:sp>
    </p:spTree>
    <p:extLst>
      <p:ext uri="{BB962C8B-B14F-4D97-AF65-F5344CB8AC3E}">
        <p14:creationId xmlns:p14="http://schemas.microsoft.com/office/powerpoint/2010/main" val="545029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09.12.2024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4328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09.12.2024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a:t>Formatvorlagen des Textmasters</a:t>
            </a:r>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a:t>Formatvorlagen des Textmasters</a:t>
            </a:r>
          </a:p>
        </p:txBody>
      </p:sp>
    </p:spTree>
    <p:extLst>
      <p:ext uri="{BB962C8B-B14F-4D97-AF65-F5344CB8AC3E}">
        <p14:creationId xmlns:p14="http://schemas.microsoft.com/office/powerpoint/2010/main" val="126866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a:t>– Hier wird die zitierte Person aufgeführt.</a:t>
            </a:r>
          </a:p>
        </p:txBody>
      </p:sp>
    </p:spTree>
    <p:extLst>
      <p:ext uri="{BB962C8B-B14F-4D97-AF65-F5344CB8AC3E}">
        <p14:creationId xmlns:p14="http://schemas.microsoft.com/office/powerpoint/2010/main" val="77423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a:t>– Hier wird die zitierte Person aufgeführt.</a:t>
            </a:r>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1018380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Tree>
    <p:extLst>
      <p:ext uri="{BB962C8B-B14F-4D97-AF65-F5344CB8AC3E}">
        <p14:creationId xmlns:p14="http://schemas.microsoft.com/office/powerpoint/2010/main" val="3352173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2654920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a:t>Diagramm</a:t>
            </a:r>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a:t>Hier können zusätzliche Informationen aufgelistet werden</a:t>
            </a:r>
          </a:p>
        </p:txBody>
      </p:sp>
    </p:spTree>
    <p:extLst>
      <p:ext uri="{BB962C8B-B14F-4D97-AF65-F5344CB8AC3E}">
        <p14:creationId xmlns:p14="http://schemas.microsoft.com/office/powerpoint/2010/main" val="1848640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09.12.2024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3944040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09.12.2024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133911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110456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64327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71939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484210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a:t>Titel der Aufgabe</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3129659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2366713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3</a:t>
            </a:r>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4</a:t>
            </a:r>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2</a:t>
            </a:r>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Ressourcen</a:t>
            </a:r>
          </a:p>
        </p:txBody>
      </p:sp>
    </p:spTree>
    <p:extLst>
      <p:ext uri="{BB962C8B-B14F-4D97-AF65-F5344CB8AC3E}">
        <p14:creationId xmlns:p14="http://schemas.microsoft.com/office/powerpoint/2010/main" val="3837735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Quellen</a:t>
            </a:r>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a:t>1</a:t>
            </a:r>
            <a:r>
              <a:rPr lang="de-DE" dirty="0"/>
              <a:t> 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a:t>Buchquelle</a:t>
            </a:r>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a:t>1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r>
              <a:rPr lang="de-DE" baseline="30000" dirty="0"/>
              <a:t>2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a:t>Abbildungen</a:t>
            </a:r>
          </a:p>
        </p:txBody>
      </p:sp>
    </p:spTree>
    <p:extLst>
      <p:ext uri="{BB962C8B-B14F-4D97-AF65-F5344CB8AC3E}">
        <p14:creationId xmlns:p14="http://schemas.microsoft.com/office/powerpoint/2010/main" val="3741361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09.12.2024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a:t>VIELEN DANK!</a:t>
            </a:r>
          </a:p>
        </p:txBody>
      </p:sp>
    </p:spTree>
    <p:extLst>
      <p:ext uri="{BB962C8B-B14F-4D97-AF65-F5344CB8AC3E}">
        <p14:creationId xmlns:p14="http://schemas.microsoft.com/office/powerpoint/2010/main" val="350681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464586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09.12.2024</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a:t>Präsentationsthema</a:t>
            </a:r>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21707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p:cNvGrpSpPr/>
          <p:nvPr/>
        </p:nvGrpSpPr>
        <p:grpSpPr>
          <a:xfrm>
            <a:off x="0" y="2716918"/>
            <a:ext cx="12201054" cy="4142572"/>
            <a:chOff x="0" y="2716065"/>
            <a:chExt cx="12201054" cy="4142572"/>
          </a:xfrm>
        </p:grpSpPr>
        <p:sp>
          <p:nvSpPr>
            <p:cNvPr id="8" name="Freihandform 7"/>
            <p:cNvSpPr/>
            <p:nvPr/>
          </p:nvSpPr>
          <p:spPr>
            <a:xfrm>
              <a:off x="0" y="2760670"/>
              <a:ext cx="12201054" cy="4097967"/>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1054" h="4097967">
                  <a:moveTo>
                    <a:pt x="0" y="0"/>
                  </a:moveTo>
                  <a:lnTo>
                    <a:pt x="3454269" y="0"/>
                  </a:lnTo>
                  <a:lnTo>
                    <a:pt x="3825090" y="351771"/>
                  </a:lnTo>
                  <a:lnTo>
                    <a:pt x="4195910" y="0"/>
                  </a:lnTo>
                  <a:lnTo>
                    <a:pt x="12192000" y="0"/>
                  </a:lnTo>
                  <a:lnTo>
                    <a:pt x="12201054" y="4097966"/>
                  </a:lnTo>
                  <a:lnTo>
                    <a:pt x="0" y="409796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pic>
          <p:nvPicPr>
            <p:cNvPr id="9" name="Grafik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Titel 4"/>
          <p:cNvSpPr>
            <a:spLocks noGrp="1"/>
          </p:cNvSpPr>
          <p:nvPr>
            <p:ph type="ctrTitle"/>
          </p:nvPr>
        </p:nvSpPr>
        <p:spPr>
          <a:xfrm>
            <a:off x="0" y="3424238"/>
            <a:ext cx="12192000" cy="2158673"/>
          </a:xfrm>
        </p:spPr>
        <p:txBody>
          <a:bodyPr>
            <a:normAutofit/>
          </a:bodyPr>
          <a:lstStyle/>
          <a:p>
            <a:r>
              <a:rPr lang="de-DE" sz="6700" b="1" dirty="0">
                <a:latin typeface="Source Sans Pro" panose="020B0503030403020204" pitchFamily="34" charset="0"/>
              </a:rPr>
              <a:t>UML Anwendungsfalldiagramm</a:t>
            </a:r>
          </a:p>
        </p:txBody>
      </p:sp>
      <p:sp>
        <p:nvSpPr>
          <p:cNvPr id="6" name="Untertitel 5"/>
          <p:cNvSpPr>
            <a:spLocks noGrp="1"/>
          </p:cNvSpPr>
          <p:nvPr>
            <p:ph type="subTitle" idx="1"/>
          </p:nvPr>
        </p:nvSpPr>
        <p:spPr/>
        <p:txBody>
          <a:bodyPr/>
          <a:lstStyle/>
          <a:p>
            <a:r>
              <a:rPr lang="de-DE" b="1" dirty="0">
                <a:latin typeface="Source Sans Pro" panose="020B0503030403020204" pitchFamily="34" charset="0"/>
              </a:rPr>
              <a:t>Objektorientierte Programmierung</a:t>
            </a:r>
            <a:endParaRPr lang="de-DE" dirty="0">
              <a:latin typeface="Source Sans Pro" panose="020B0503030403020204" pitchFamily="34" charset="0"/>
            </a:endParaRPr>
          </a:p>
        </p:txBody>
      </p: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Grafik 20" descr="Bücher">
            <a:extLst>
              <a:ext uri="{FF2B5EF4-FFF2-40B4-BE49-F238E27FC236}">
                <a16:creationId xmlns:a16="http://schemas.microsoft.com/office/drawing/2014/main" id="{43D00B49-42D5-4163-8350-6A7AE38C9954}"/>
              </a:ext>
            </a:extLst>
          </p:cNvPr>
          <p:cNvSpPr/>
          <p:nvPr/>
        </p:nvSpPr>
        <p:spPr>
          <a:xfrm>
            <a:off x="352641" y="4810506"/>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Bildplatzhalter 12"/>
          <p:cNvSpPr>
            <a:spLocks noGrp="1"/>
          </p:cNvSpPr>
          <p:nvPr>
            <p:ph type="pic" sz="quarter" idx="13"/>
          </p:nvPr>
        </p:nvSpPr>
        <p:spPr/>
        <p:txBody>
          <a:bodyPr/>
          <a:lstStyle/>
          <a:p>
            <a:endParaRPr lang="de-DE"/>
          </a:p>
        </p:txBody>
      </p:sp>
    </p:spTree>
    <p:extLst>
      <p:ext uri="{BB962C8B-B14F-4D97-AF65-F5344CB8AC3E}">
        <p14:creationId xmlns:p14="http://schemas.microsoft.com/office/powerpoint/2010/main" val="1675049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Agenda</a:t>
            </a: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40080" y="1222930"/>
            <a:ext cx="10713719" cy="3416320"/>
          </a:xfrm>
          <a:prstGeom prst="rect">
            <a:avLst/>
          </a:prstGeom>
          <a:noFill/>
        </p:spPr>
        <p:txBody>
          <a:bodyPr wrap="square" rtlCol="0">
            <a:spAutoFit/>
          </a:bodyPr>
          <a:lstStyle/>
          <a:p>
            <a:endParaRPr lang="de-DE" b="1" dirty="0">
              <a:latin typeface="Source Sans Pro" panose="020B0503030403020204" pitchFamily="34" charset="0"/>
              <a:ea typeface="Source Sans Pro" panose="020B0503030403020204" pitchFamily="34" charset="0"/>
            </a:endParaRPr>
          </a:p>
          <a:p>
            <a:pPr marL="285750" indent="-285750">
              <a:buFontTx/>
              <a:buChar char="-"/>
            </a:pPr>
            <a:r>
              <a:rPr lang="de-DE" dirty="0">
                <a:latin typeface="Source Sans Pro" panose="020B0503030403020204" pitchFamily="34" charset="0"/>
                <a:ea typeface="Source Sans Pro" panose="020B0503030403020204" pitchFamily="34" charset="0"/>
              </a:rPr>
              <a:t>Übersicht</a:t>
            </a:r>
          </a:p>
          <a:p>
            <a:pPr marL="742950" lvl="1" indent="-285750">
              <a:buFontTx/>
              <a:buChar char="-"/>
            </a:pPr>
            <a:r>
              <a:rPr lang="de-DE" dirty="0">
                <a:latin typeface="Source Sans Pro" panose="020B0503030403020204" pitchFamily="34" charset="0"/>
                <a:ea typeface="Source Sans Pro" panose="020B0503030403020204" pitchFamily="34" charset="0"/>
              </a:rPr>
              <a:t>Beispiel</a:t>
            </a:r>
          </a:p>
          <a:p>
            <a:pPr marL="285750" indent="-285750">
              <a:buFontTx/>
              <a:buChar char="-"/>
            </a:pPr>
            <a:r>
              <a:rPr lang="de-DE" dirty="0">
                <a:latin typeface="Source Sans Pro" panose="020B0503030403020204" pitchFamily="34" charset="0"/>
                <a:ea typeface="Source Sans Pro" panose="020B0503030403020204" pitchFamily="34" charset="0"/>
              </a:rPr>
              <a:t>Syntax</a:t>
            </a:r>
          </a:p>
          <a:p>
            <a:pPr marL="742950" lvl="1" indent="-285750">
              <a:buFontTx/>
              <a:buChar char="-"/>
            </a:pPr>
            <a:r>
              <a:rPr lang="de-DE" dirty="0">
                <a:latin typeface="Source Sans Pro" panose="020B0503030403020204" pitchFamily="34" charset="0"/>
                <a:ea typeface="Source Sans Pro" panose="020B0503030403020204" pitchFamily="34" charset="0"/>
              </a:rPr>
              <a:t>Anwendungsfall</a:t>
            </a:r>
          </a:p>
          <a:p>
            <a:pPr marL="742950" lvl="1" indent="-285750">
              <a:buFontTx/>
              <a:buChar char="-"/>
            </a:pPr>
            <a:r>
              <a:rPr lang="de-DE" dirty="0">
                <a:latin typeface="Source Sans Pro" panose="020B0503030403020204" pitchFamily="34" charset="0"/>
                <a:ea typeface="Source Sans Pro" panose="020B0503030403020204" pitchFamily="34" charset="0"/>
              </a:rPr>
              <a:t>Akteur</a:t>
            </a:r>
          </a:p>
          <a:p>
            <a:pPr marL="742950" lvl="1" indent="-285750">
              <a:buFontTx/>
              <a:buChar char="-"/>
            </a:pPr>
            <a:r>
              <a:rPr lang="de-DE" dirty="0">
                <a:latin typeface="Source Sans Pro" panose="020B0503030403020204" pitchFamily="34" charset="0"/>
                <a:ea typeface="Source Sans Pro" panose="020B0503030403020204" pitchFamily="34" charset="0"/>
              </a:rPr>
              <a:t>Beziehungen</a:t>
            </a:r>
          </a:p>
          <a:p>
            <a:pPr marL="1200150" lvl="2" indent="-285750">
              <a:buFontTx/>
              <a:buChar char="-"/>
            </a:pPr>
            <a:r>
              <a:rPr lang="de-DE" dirty="0">
                <a:latin typeface="Source Sans Pro" panose="020B0503030403020204" pitchFamily="34" charset="0"/>
                <a:ea typeface="Source Sans Pro" panose="020B0503030403020204" pitchFamily="34" charset="0"/>
              </a:rPr>
              <a:t>Assoziation</a:t>
            </a:r>
          </a:p>
          <a:p>
            <a:pPr marL="1200150" lvl="2" indent="-285750">
              <a:buFontTx/>
              <a:buChar char="-"/>
            </a:pPr>
            <a:r>
              <a:rPr lang="de-DE" dirty="0">
                <a:latin typeface="Source Sans Pro" panose="020B0503030403020204" pitchFamily="34" charset="0"/>
                <a:ea typeface="Source Sans Pro" panose="020B0503030403020204" pitchFamily="34" charset="0"/>
              </a:rPr>
              <a:t>Generalisierung/Spezialisierung</a:t>
            </a:r>
          </a:p>
          <a:p>
            <a:pPr marL="1200150" lvl="2" indent="-285750">
              <a:buFontTx/>
              <a:buChar char="-"/>
            </a:pPr>
            <a:r>
              <a:rPr lang="de-DE" dirty="0" err="1">
                <a:latin typeface="Source Sans Pro" panose="020B0503030403020204" pitchFamily="34" charset="0"/>
                <a:ea typeface="Source Sans Pro" panose="020B0503030403020204" pitchFamily="34" charset="0"/>
              </a:rPr>
              <a:t>Include</a:t>
            </a:r>
            <a:endParaRPr lang="de-DE" dirty="0">
              <a:latin typeface="Source Sans Pro" panose="020B0503030403020204" pitchFamily="34" charset="0"/>
              <a:ea typeface="Source Sans Pro" panose="020B0503030403020204" pitchFamily="34" charset="0"/>
            </a:endParaRPr>
          </a:p>
          <a:p>
            <a:pPr marL="1200150" lvl="2" indent="-285750">
              <a:buFontTx/>
              <a:buChar char="-"/>
            </a:pPr>
            <a:r>
              <a:rPr lang="de-DE" dirty="0" err="1">
                <a:latin typeface="Source Sans Pro" panose="020B0503030403020204" pitchFamily="34" charset="0"/>
                <a:ea typeface="Source Sans Pro" panose="020B0503030403020204" pitchFamily="34" charset="0"/>
              </a:rPr>
              <a:t>Extend</a:t>
            </a:r>
            <a:endParaRPr lang="de-DE" dirty="0">
              <a:latin typeface="Source Sans Pro" panose="020B0503030403020204" pitchFamily="34" charset="0"/>
              <a:ea typeface="Source Sans Pro" panose="020B0503030403020204" pitchFamily="34" charset="0"/>
            </a:endParaRPr>
          </a:p>
          <a:p>
            <a:pPr marL="285750" indent="-285750">
              <a:buFontTx/>
              <a:buChar char="-"/>
            </a:pPr>
            <a:r>
              <a:rPr lang="de-DE" dirty="0">
                <a:latin typeface="Source Sans Pro" panose="020B0503030403020204" pitchFamily="34" charset="0"/>
                <a:ea typeface="Source Sans Pro" panose="020B0503030403020204" pitchFamily="34" charset="0"/>
              </a:rPr>
              <a:t>Übungsaufgabe</a:t>
            </a:r>
          </a:p>
        </p:txBody>
      </p:sp>
    </p:spTree>
    <p:extLst>
      <p:ext uri="{BB962C8B-B14F-4D97-AF65-F5344CB8AC3E}">
        <p14:creationId xmlns:p14="http://schemas.microsoft.com/office/powerpoint/2010/main" val="4092280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5495849" cy="707704"/>
          </a:xfrm>
        </p:spPr>
        <p:txBody>
          <a:bodyPr>
            <a:noAutofit/>
          </a:bodyPr>
          <a:lstStyle/>
          <a:p>
            <a:r>
              <a:rPr lang="de-DE" sz="6600" dirty="0">
                <a:latin typeface="Source Sans Pro" panose="020B0503030403020204" pitchFamily="34" charset="0"/>
              </a:rPr>
              <a:t>Übersicht</a:t>
            </a:r>
          </a:p>
        </p:txBody>
      </p:sp>
    </p:spTree>
    <p:extLst>
      <p:ext uri="{BB962C8B-B14F-4D97-AF65-F5344CB8AC3E}">
        <p14:creationId xmlns:p14="http://schemas.microsoft.com/office/powerpoint/2010/main" val="937596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Übersicht</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p:txBody>
      </p:sp>
      <p:sp>
        <p:nvSpPr>
          <p:cNvPr id="8" name="Textfeld 7"/>
          <p:cNvSpPr txBox="1"/>
          <p:nvPr/>
        </p:nvSpPr>
        <p:spPr>
          <a:xfrm>
            <a:off x="516392" y="3071815"/>
            <a:ext cx="11341311" cy="923330"/>
          </a:xfrm>
          <a:prstGeom prst="rect">
            <a:avLst/>
          </a:prstGeom>
          <a:noFill/>
        </p:spPr>
        <p:txBody>
          <a:bodyPr wrap="square" rtlCol="0">
            <a:spAutoFit/>
          </a:bodyPr>
          <a:lstStyle/>
          <a:p>
            <a:r>
              <a:rPr lang="de-DE" dirty="0">
                <a:latin typeface="Source Sans Pro" panose="020B0503030403020204"/>
              </a:rPr>
              <a:t>Ein Anwendungsfalldiagramm (</a:t>
            </a:r>
            <a:r>
              <a:rPr lang="de-DE" dirty="0" err="1">
                <a:latin typeface="Source Sans Pro" panose="020B0503030403020204"/>
              </a:rPr>
              <a:t>Use</a:t>
            </a:r>
            <a:r>
              <a:rPr lang="de-DE" dirty="0">
                <a:latin typeface="Source Sans Pro" panose="020B0503030403020204"/>
              </a:rPr>
              <a:t>-Case) soll den Entwicklern und Benutzern einer Anwendung eine grobe Übersicht über die Features und mögliche Interaktionen zwischen Benutzern und Programm geben. Wichtig ist hier, dass keine zeitliche Abfolge modelliert wird. Hauptsächlich wird die Sicht des Benutzers auf das Programm dargestellt.</a:t>
            </a:r>
          </a:p>
        </p:txBody>
      </p:sp>
    </p:spTree>
    <p:extLst>
      <p:ext uri="{BB962C8B-B14F-4D97-AF65-F5344CB8AC3E}">
        <p14:creationId xmlns:p14="http://schemas.microsoft.com/office/powerpoint/2010/main" val="3676969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r>
              <a:rPr lang="de-DE" dirty="0">
                <a:latin typeface="Source Sans Pro" panose="020B0503030403020204"/>
              </a:rPr>
              <a:t>Beispiel</a:t>
            </a:r>
          </a:p>
        </p:txBody>
      </p:sp>
      <p:sp>
        <p:nvSpPr>
          <p:cNvPr id="9"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Übersicht</a:t>
            </a:r>
            <a:endParaRPr lang="de-DE" sz="2000" b="0" i="1" dirty="0">
              <a:latin typeface="Source Sans Pro" panose="020B0503030403020204" pitchFamily="34" charset="0"/>
            </a:endParaRPr>
          </a:p>
        </p:txBody>
      </p:sp>
      <p:sp>
        <p:nvSpPr>
          <p:cNvPr id="8" name="Textfeld 7"/>
          <p:cNvSpPr txBox="1"/>
          <p:nvPr/>
        </p:nvSpPr>
        <p:spPr>
          <a:xfrm>
            <a:off x="361949" y="5014075"/>
            <a:ext cx="10991850" cy="923330"/>
          </a:xfrm>
          <a:prstGeom prst="rect">
            <a:avLst/>
          </a:prstGeom>
          <a:noFill/>
        </p:spPr>
        <p:txBody>
          <a:bodyPr wrap="square" rtlCol="0">
            <a:spAutoFit/>
          </a:bodyPr>
          <a:lstStyle/>
          <a:p>
            <a:r>
              <a:rPr lang="de-DE" dirty="0"/>
              <a:t>Kunde kann Geld auszahlen lassen, dabei muss Kunde immer die PIN eingeben. Ist die PIN falsch, wird der Vorgang abgebrochen. Der Vorgang kann zu jeder Zeit auch durch Kunde abgebrochen werden.</a:t>
            </a:r>
          </a:p>
          <a:p>
            <a:r>
              <a:rPr lang="de-DE" dirty="0"/>
              <a:t>Kunde kann Geld einzahlen.</a:t>
            </a:r>
          </a:p>
        </p:txBody>
      </p:sp>
      <p:pic>
        <p:nvPicPr>
          <p:cNvPr id="3" name="Grafik 2"/>
          <p:cNvPicPr>
            <a:picLocks noChangeAspect="1"/>
          </p:cNvPicPr>
          <p:nvPr/>
        </p:nvPicPr>
        <p:blipFill>
          <a:blip r:embed="rId2"/>
          <a:stretch>
            <a:fillRect/>
          </a:stretch>
        </p:blipFill>
        <p:spPr>
          <a:xfrm>
            <a:off x="2514772" y="1009140"/>
            <a:ext cx="8323637" cy="3905499"/>
          </a:xfrm>
          <a:prstGeom prst="rect">
            <a:avLst/>
          </a:prstGeom>
        </p:spPr>
      </p:pic>
    </p:spTree>
    <p:extLst>
      <p:ext uri="{BB962C8B-B14F-4D97-AF65-F5344CB8AC3E}">
        <p14:creationId xmlns:p14="http://schemas.microsoft.com/office/powerpoint/2010/main" val="1970022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5495849" cy="707704"/>
          </a:xfrm>
        </p:spPr>
        <p:txBody>
          <a:bodyPr>
            <a:noAutofit/>
          </a:bodyPr>
          <a:lstStyle/>
          <a:p>
            <a:r>
              <a:rPr lang="de-DE" sz="6600" dirty="0">
                <a:latin typeface="Source Sans Pro" panose="020B0503030403020204" pitchFamily="34" charset="0"/>
              </a:rPr>
              <a:t>Syntax</a:t>
            </a:r>
          </a:p>
        </p:txBody>
      </p:sp>
    </p:spTree>
    <p:extLst>
      <p:ext uri="{BB962C8B-B14F-4D97-AF65-F5344CB8AC3E}">
        <p14:creationId xmlns:p14="http://schemas.microsoft.com/office/powerpoint/2010/main" val="3534886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Syntax</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r>
              <a:rPr lang="de-DE" dirty="0">
                <a:latin typeface="Source Sans Pro" panose="020B0503030403020204"/>
              </a:rPr>
              <a:t>Anwendungsfall</a:t>
            </a:r>
          </a:p>
        </p:txBody>
      </p:sp>
      <p:sp>
        <p:nvSpPr>
          <p:cNvPr id="8" name="Textfeld 7"/>
          <p:cNvSpPr txBox="1"/>
          <p:nvPr/>
        </p:nvSpPr>
        <p:spPr>
          <a:xfrm>
            <a:off x="516392" y="3071815"/>
            <a:ext cx="9786653" cy="646331"/>
          </a:xfrm>
          <a:prstGeom prst="rect">
            <a:avLst/>
          </a:prstGeom>
          <a:noFill/>
        </p:spPr>
        <p:txBody>
          <a:bodyPr wrap="none" rtlCol="0">
            <a:spAutoFit/>
          </a:bodyPr>
          <a:lstStyle/>
          <a:p>
            <a:r>
              <a:rPr lang="de-DE" dirty="0">
                <a:latin typeface="Source Sans Pro" panose="020B0503030403020204"/>
              </a:rPr>
              <a:t>Ein Anwendungsfalldiagramm besteht aus einem oder mehreren Anwendungsfällen.</a:t>
            </a:r>
          </a:p>
          <a:p>
            <a:r>
              <a:rPr lang="de-DE" dirty="0">
                <a:latin typeface="Source Sans Pro" panose="020B0503030403020204"/>
              </a:rPr>
              <a:t>Anwendungsfälle beschreiben die Funktionen, die ein Akteur ausführen/auslösen/durchführen kann</a:t>
            </a:r>
          </a:p>
        </p:txBody>
      </p:sp>
      <p:pic>
        <p:nvPicPr>
          <p:cNvPr id="3" name="Grafik 2"/>
          <p:cNvPicPr>
            <a:picLocks noChangeAspect="1"/>
          </p:cNvPicPr>
          <p:nvPr/>
        </p:nvPicPr>
        <p:blipFill>
          <a:blip r:embed="rId2"/>
          <a:stretch>
            <a:fillRect/>
          </a:stretch>
        </p:blipFill>
        <p:spPr>
          <a:xfrm>
            <a:off x="3549534" y="1439651"/>
            <a:ext cx="3198061" cy="1297933"/>
          </a:xfrm>
          <a:prstGeom prst="rect">
            <a:avLst/>
          </a:prstGeom>
        </p:spPr>
      </p:pic>
    </p:spTree>
    <p:extLst>
      <p:ext uri="{BB962C8B-B14F-4D97-AF65-F5344CB8AC3E}">
        <p14:creationId xmlns:p14="http://schemas.microsoft.com/office/powerpoint/2010/main" val="3357073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Syntax</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r>
              <a:rPr lang="de-DE" dirty="0">
                <a:latin typeface="Source Sans Pro" panose="020B0503030403020204"/>
              </a:rPr>
              <a:t>Akteur</a:t>
            </a:r>
          </a:p>
        </p:txBody>
      </p:sp>
      <p:sp>
        <p:nvSpPr>
          <p:cNvPr id="8" name="Textfeld 7"/>
          <p:cNvSpPr txBox="1"/>
          <p:nvPr/>
        </p:nvSpPr>
        <p:spPr>
          <a:xfrm>
            <a:off x="420612" y="3071815"/>
            <a:ext cx="11437092" cy="1754326"/>
          </a:xfrm>
          <a:prstGeom prst="rect">
            <a:avLst/>
          </a:prstGeom>
          <a:noFill/>
        </p:spPr>
        <p:txBody>
          <a:bodyPr wrap="square" rtlCol="0">
            <a:spAutoFit/>
          </a:bodyPr>
          <a:lstStyle/>
          <a:p>
            <a:r>
              <a:rPr lang="de-DE" dirty="0">
                <a:latin typeface="Source Sans Pro" panose="020B0503030403020204"/>
              </a:rPr>
              <a:t>Akteure sind Personen oder Systeme, die mit der Anwendung interagieren. Hierbei werden nicht direkt Menschen bezeichnet, sondern Rollen oder Personengruppen definiert.</a:t>
            </a:r>
          </a:p>
          <a:p>
            <a:endParaRPr lang="de-DE" dirty="0">
              <a:latin typeface="Source Sans Pro" panose="020B0503030403020204"/>
            </a:endParaRPr>
          </a:p>
          <a:p>
            <a:r>
              <a:rPr lang="de-DE" dirty="0">
                <a:latin typeface="Source Sans Pro" panose="020B0503030403020204"/>
              </a:rPr>
              <a:t>Zum Beispiel „Buchhaltung“, oder „Benutzer“, „Admin“</a:t>
            </a:r>
          </a:p>
          <a:p>
            <a:endParaRPr lang="de-DE" dirty="0">
              <a:latin typeface="Source Sans Pro" panose="020B0503030403020204"/>
            </a:endParaRPr>
          </a:p>
          <a:p>
            <a:r>
              <a:rPr lang="de-DE" dirty="0">
                <a:latin typeface="Source Sans Pro" panose="020B0503030403020204"/>
              </a:rPr>
              <a:t>Akteure stehen immer außerhalb des zu modellierenden Systems!</a:t>
            </a:r>
          </a:p>
        </p:txBody>
      </p:sp>
      <p:pic>
        <p:nvPicPr>
          <p:cNvPr id="3" name="Grafik 2"/>
          <p:cNvPicPr>
            <a:picLocks noChangeAspect="1"/>
          </p:cNvPicPr>
          <p:nvPr/>
        </p:nvPicPr>
        <p:blipFill>
          <a:blip r:embed="rId2"/>
          <a:stretch>
            <a:fillRect/>
          </a:stretch>
        </p:blipFill>
        <p:spPr>
          <a:xfrm>
            <a:off x="3797023" y="743702"/>
            <a:ext cx="1334072" cy="1877816"/>
          </a:xfrm>
          <a:prstGeom prst="rect">
            <a:avLst/>
          </a:prstGeom>
        </p:spPr>
      </p:pic>
    </p:spTree>
    <p:extLst>
      <p:ext uri="{BB962C8B-B14F-4D97-AF65-F5344CB8AC3E}">
        <p14:creationId xmlns:p14="http://schemas.microsoft.com/office/powerpoint/2010/main" val="3664353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Syntax</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r>
              <a:rPr lang="de-DE" dirty="0">
                <a:latin typeface="Source Sans Pro" panose="020B0503030403020204"/>
              </a:rPr>
              <a:t>Assoziation</a:t>
            </a:r>
          </a:p>
        </p:txBody>
      </p:sp>
      <p:sp>
        <p:nvSpPr>
          <p:cNvPr id="8" name="Textfeld 7"/>
          <p:cNvSpPr txBox="1"/>
          <p:nvPr/>
        </p:nvSpPr>
        <p:spPr>
          <a:xfrm>
            <a:off x="420611" y="3071815"/>
            <a:ext cx="11437092" cy="2862322"/>
          </a:xfrm>
          <a:prstGeom prst="rect">
            <a:avLst/>
          </a:prstGeom>
          <a:noFill/>
        </p:spPr>
        <p:txBody>
          <a:bodyPr wrap="square" rtlCol="0">
            <a:spAutoFit/>
          </a:bodyPr>
          <a:lstStyle/>
          <a:p>
            <a:r>
              <a:rPr lang="de-DE" dirty="0">
                <a:latin typeface="Source Sans Pro" panose="020B0503030403020204"/>
              </a:rPr>
              <a:t>Akteure sind über Assoziationen mit den Anwendungsfällen verbunden.</a:t>
            </a:r>
          </a:p>
          <a:p>
            <a:endParaRPr lang="de-DE" dirty="0">
              <a:latin typeface="Source Sans Pro" panose="020B0503030403020204"/>
            </a:endParaRPr>
          </a:p>
          <a:p>
            <a:r>
              <a:rPr lang="de-DE" dirty="0">
                <a:latin typeface="Source Sans Pro" panose="020B0503030403020204"/>
              </a:rPr>
              <a:t>Diese Assoziationen können über </a:t>
            </a:r>
            <a:r>
              <a:rPr lang="de-DE" dirty="0" err="1">
                <a:latin typeface="Source Sans Pro" panose="020B0503030403020204"/>
              </a:rPr>
              <a:t>Multiplizitäten</a:t>
            </a:r>
            <a:r>
              <a:rPr lang="de-DE" dirty="0">
                <a:latin typeface="Source Sans Pro" panose="020B0503030403020204"/>
              </a:rPr>
              <a:t> verfügen (ein User kann 1 oder mehrere neue Messdaten eingeben, aber ein Set von Messdaten wird nur von einem User eingegeben)</a:t>
            </a:r>
          </a:p>
          <a:p>
            <a:endParaRPr lang="de-DE" dirty="0">
              <a:latin typeface="Source Sans Pro" panose="020B0503030403020204"/>
            </a:endParaRPr>
          </a:p>
          <a:p>
            <a:r>
              <a:rPr lang="de-DE" dirty="0">
                <a:latin typeface="Source Sans Pro" panose="020B0503030403020204"/>
              </a:rPr>
              <a:t>Sie können auch beschriftet werden und Pfeilspitzen haben. Die Pfeilspitzen geben hier die möglichen Kommunikationsrichtungen an. (Kunde und Mitarbeiter können in beide Richtungen miteinander kommunizieren)</a:t>
            </a:r>
          </a:p>
          <a:p>
            <a:endParaRPr lang="de-DE" dirty="0">
              <a:latin typeface="Source Sans Pro" panose="020B0503030403020204"/>
            </a:endParaRPr>
          </a:p>
          <a:p>
            <a:r>
              <a:rPr lang="de-DE" dirty="0">
                <a:latin typeface="Source Sans Pro" panose="020B0503030403020204"/>
              </a:rPr>
              <a:t>Ist mehr als ein Akteur an einem Anwendungsfall beteiligt, müssen alle beteiligten Akteure aktiv werden, um den Anwendungsfall auszuführen. (Ein Kunde kann nicht ohne Mitarbeiter ein Zimmer buchen)</a:t>
            </a:r>
          </a:p>
        </p:txBody>
      </p:sp>
      <p:pic>
        <p:nvPicPr>
          <p:cNvPr id="7" name="Grafik 6"/>
          <p:cNvPicPr>
            <a:picLocks noChangeAspect="1"/>
          </p:cNvPicPr>
          <p:nvPr/>
        </p:nvPicPr>
        <p:blipFill>
          <a:blip r:embed="rId2"/>
          <a:stretch>
            <a:fillRect/>
          </a:stretch>
        </p:blipFill>
        <p:spPr>
          <a:xfrm>
            <a:off x="2954865" y="1882071"/>
            <a:ext cx="7112597" cy="1189744"/>
          </a:xfrm>
          <a:prstGeom prst="rect">
            <a:avLst/>
          </a:prstGeom>
        </p:spPr>
      </p:pic>
      <p:pic>
        <p:nvPicPr>
          <p:cNvPr id="9" name="Grafik 8"/>
          <p:cNvPicPr>
            <a:picLocks noChangeAspect="1"/>
          </p:cNvPicPr>
          <p:nvPr/>
        </p:nvPicPr>
        <p:blipFill>
          <a:blip r:embed="rId3"/>
          <a:stretch>
            <a:fillRect/>
          </a:stretch>
        </p:blipFill>
        <p:spPr>
          <a:xfrm>
            <a:off x="3903133" y="556768"/>
            <a:ext cx="4965170" cy="1265299"/>
          </a:xfrm>
          <a:prstGeom prst="rect">
            <a:avLst/>
          </a:prstGeom>
        </p:spPr>
      </p:pic>
    </p:spTree>
    <p:extLst>
      <p:ext uri="{BB962C8B-B14F-4D97-AF65-F5344CB8AC3E}">
        <p14:creationId xmlns:p14="http://schemas.microsoft.com/office/powerpoint/2010/main" val="2902224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Syntax</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r>
              <a:rPr lang="de-DE" dirty="0">
                <a:latin typeface="Source Sans Pro" panose="020B0503030403020204"/>
              </a:rPr>
              <a:t>Generalisierung</a:t>
            </a:r>
          </a:p>
          <a:p>
            <a:r>
              <a:rPr lang="de-DE" dirty="0">
                <a:latin typeface="Source Sans Pro" panose="020B0503030403020204"/>
              </a:rPr>
              <a:t>Spezialisierung</a:t>
            </a:r>
          </a:p>
        </p:txBody>
      </p:sp>
      <p:sp>
        <p:nvSpPr>
          <p:cNvPr id="10" name="Textfeld 9"/>
          <p:cNvSpPr txBox="1"/>
          <p:nvPr/>
        </p:nvSpPr>
        <p:spPr>
          <a:xfrm>
            <a:off x="420611" y="3071815"/>
            <a:ext cx="11437092" cy="1754326"/>
          </a:xfrm>
          <a:prstGeom prst="rect">
            <a:avLst/>
          </a:prstGeom>
          <a:noFill/>
        </p:spPr>
        <p:txBody>
          <a:bodyPr wrap="square" rtlCol="0">
            <a:spAutoFit/>
          </a:bodyPr>
          <a:lstStyle/>
          <a:p>
            <a:r>
              <a:rPr lang="de-DE" dirty="0">
                <a:latin typeface="Source Sans Pro" panose="020B0503030403020204"/>
              </a:rPr>
              <a:t>Anwendungsfälle können generalisiert und spezialisiert sein. Dies funktioniert ähnlich wie die Vererbung bei Klassen.</a:t>
            </a:r>
          </a:p>
          <a:p>
            <a:r>
              <a:rPr lang="de-DE" dirty="0">
                <a:latin typeface="Source Sans Pro" panose="020B0503030403020204"/>
              </a:rPr>
              <a:t>Hier erben „Reservieren“ und „Kaufen“ alle Eigenschaften und Assoziationen von „Ticket buchen“.</a:t>
            </a:r>
          </a:p>
          <a:p>
            <a:endParaRPr lang="de-DE" dirty="0">
              <a:latin typeface="Source Sans Pro" panose="020B0503030403020204"/>
            </a:endParaRPr>
          </a:p>
          <a:p>
            <a:r>
              <a:rPr lang="de-DE" dirty="0">
                <a:latin typeface="Source Sans Pro" panose="020B0503030403020204"/>
              </a:rPr>
              <a:t>Da „Kunde“ den Anwendungsfall „Ticket buchen“ ausführen kann, kann „Kunde“ auch „Reservieren“ und „Kaufen“ ausführen.</a:t>
            </a:r>
          </a:p>
          <a:p>
            <a:endParaRPr lang="de-DE" dirty="0">
              <a:latin typeface="Source Sans Pro" panose="020B0503030403020204"/>
            </a:endParaRPr>
          </a:p>
        </p:txBody>
      </p:sp>
      <p:pic>
        <p:nvPicPr>
          <p:cNvPr id="6" name="Grafik 5"/>
          <p:cNvPicPr>
            <a:picLocks noChangeAspect="1"/>
          </p:cNvPicPr>
          <p:nvPr/>
        </p:nvPicPr>
        <p:blipFill>
          <a:blip r:embed="rId2"/>
          <a:stretch>
            <a:fillRect/>
          </a:stretch>
        </p:blipFill>
        <p:spPr>
          <a:xfrm>
            <a:off x="3466406" y="463239"/>
            <a:ext cx="5075699" cy="2493919"/>
          </a:xfrm>
          <a:prstGeom prst="rect">
            <a:avLst/>
          </a:prstGeom>
        </p:spPr>
      </p:pic>
    </p:spTree>
    <p:extLst>
      <p:ext uri="{BB962C8B-B14F-4D97-AF65-F5344CB8AC3E}">
        <p14:creationId xmlns:p14="http://schemas.microsoft.com/office/powerpoint/2010/main" val="873081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Syntax</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r>
              <a:rPr lang="de-DE" dirty="0">
                <a:latin typeface="Source Sans Pro" panose="020B0503030403020204"/>
              </a:rPr>
              <a:t>Generalisierung</a:t>
            </a:r>
          </a:p>
          <a:p>
            <a:r>
              <a:rPr lang="de-DE" dirty="0">
                <a:latin typeface="Source Sans Pro" panose="020B0503030403020204"/>
              </a:rPr>
              <a:t>Spezialisierung</a:t>
            </a:r>
          </a:p>
        </p:txBody>
      </p:sp>
      <p:sp>
        <p:nvSpPr>
          <p:cNvPr id="10" name="Textfeld 9"/>
          <p:cNvSpPr txBox="1"/>
          <p:nvPr/>
        </p:nvSpPr>
        <p:spPr>
          <a:xfrm>
            <a:off x="420611" y="3071815"/>
            <a:ext cx="11437092" cy="1477328"/>
          </a:xfrm>
          <a:prstGeom prst="rect">
            <a:avLst/>
          </a:prstGeom>
          <a:noFill/>
        </p:spPr>
        <p:txBody>
          <a:bodyPr wrap="square" rtlCol="0">
            <a:spAutoFit/>
          </a:bodyPr>
          <a:lstStyle/>
          <a:p>
            <a:r>
              <a:rPr lang="de-DE" dirty="0">
                <a:latin typeface="Source Sans Pro" panose="020B0503030403020204"/>
              </a:rPr>
              <a:t>Auch Akteure können generalisiert und spezialisiert sein. </a:t>
            </a:r>
          </a:p>
          <a:p>
            <a:r>
              <a:rPr lang="de-DE" dirty="0">
                <a:latin typeface="Source Sans Pro" panose="020B0503030403020204"/>
              </a:rPr>
              <a:t>Hier erbt „Registrierter Kunde“ alle Eigenschaften und Assoziationen von „Kunde“.</a:t>
            </a:r>
          </a:p>
          <a:p>
            <a:endParaRPr lang="de-DE" dirty="0">
              <a:latin typeface="Source Sans Pro" panose="020B0503030403020204"/>
            </a:endParaRPr>
          </a:p>
          <a:p>
            <a:r>
              <a:rPr lang="de-DE" dirty="0">
                <a:latin typeface="Source Sans Pro" panose="020B0503030403020204"/>
              </a:rPr>
              <a:t>Da „Kunde“ den Anwendungsfall „Reservieren“ ausführen kann, kann „Registrierter Kunde“ auch „Reservieren“ ausführen. Zusätzlich kann „Registrierter Kunde“ aber auch „Kaufen“ ausführen, was „Kunde“ nicht kann.</a:t>
            </a:r>
          </a:p>
        </p:txBody>
      </p:sp>
      <p:pic>
        <p:nvPicPr>
          <p:cNvPr id="3" name="Grafik 2"/>
          <p:cNvPicPr>
            <a:picLocks noChangeAspect="1"/>
          </p:cNvPicPr>
          <p:nvPr/>
        </p:nvPicPr>
        <p:blipFill>
          <a:blip r:embed="rId2"/>
          <a:stretch>
            <a:fillRect/>
          </a:stretch>
        </p:blipFill>
        <p:spPr>
          <a:xfrm>
            <a:off x="3837168" y="179376"/>
            <a:ext cx="4603977" cy="2898800"/>
          </a:xfrm>
          <a:prstGeom prst="rect">
            <a:avLst/>
          </a:prstGeom>
        </p:spPr>
      </p:pic>
    </p:spTree>
    <p:extLst>
      <p:ext uri="{BB962C8B-B14F-4D97-AF65-F5344CB8AC3E}">
        <p14:creationId xmlns:p14="http://schemas.microsoft.com/office/powerpoint/2010/main" val="2393304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Syntax</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r>
              <a:rPr lang="de-DE" dirty="0" err="1">
                <a:latin typeface="Source Sans Pro" panose="020B0503030403020204"/>
              </a:rPr>
              <a:t>Include</a:t>
            </a:r>
            <a:endParaRPr lang="de-DE" dirty="0">
              <a:latin typeface="Source Sans Pro" panose="020B0503030403020204"/>
            </a:endParaRPr>
          </a:p>
        </p:txBody>
      </p:sp>
      <p:sp>
        <p:nvSpPr>
          <p:cNvPr id="8" name="Textfeld 7"/>
          <p:cNvSpPr txBox="1"/>
          <p:nvPr/>
        </p:nvSpPr>
        <p:spPr>
          <a:xfrm>
            <a:off x="420611" y="3502600"/>
            <a:ext cx="10933188" cy="2585323"/>
          </a:xfrm>
          <a:prstGeom prst="rect">
            <a:avLst/>
          </a:prstGeom>
          <a:noFill/>
        </p:spPr>
        <p:txBody>
          <a:bodyPr wrap="square" rtlCol="0">
            <a:spAutoFit/>
          </a:bodyPr>
          <a:lstStyle/>
          <a:p>
            <a:r>
              <a:rPr lang="de-DE" dirty="0">
                <a:latin typeface="Source Sans Pro" panose="020B0503030403020204"/>
              </a:rPr>
              <a:t>Ein Anwendungsfall kann einen anderen Anwendungsfall einbinden. Dies wird über „</a:t>
            </a:r>
            <a:r>
              <a:rPr lang="de-DE" dirty="0" err="1">
                <a:latin typeface="Source Sans Pro" panose="020B0503030403020204"/>
              </a:rPr>
              <a:t>include</a:t>
            </a:r>
            <a:r>
              <a:rPr lang="de-DE" dirty="0">
                <a:latin typeface="Source Sans Pro" panose="020B0503030403020204"/>
              </a:rPr>
              <a:t>“ gekennzeichnet. Der eingebundene Anwendungsfall wird immer und automatisch zusammen mit dem ursprünglichen Anwendungsfall ausgeführt. (Werden neue Messdaten eingegeben, werden die Daten automatisch analysiert)</a:t>
            </a:r>
          </a:p>
          <a:p>
            <a:endParaRPr lang="de-DE" dirty="0">
              <a:latin typeface="Source Sans Pro" panose="020B0503030403020204"/>
            </a:endParaRPr>
          </a:p>
          <a:p>
            <a:r>
              <a:rPr lang="de-DE" dirty="0">
                <a:latin typeface="Source Sans Pro" panose="020B0503030403020204"/>
              </a:rPr>
              <a:t>Dies ist praktisch, wenn zum Beispiel noch weitere Akteure an dem Inkludierten </a:t>
            </a:r>
            <a:r>
              <a:rPr lang="de-DE" dirty="0" err="1">
                <a:latin typeface="Source Sans Pro" panose="020B0503030403020204"/>
              </a:rPr>
              <a:t>Use</a:t>
            </a:r>
            <a:r>
              <a:rPr lang="de-DE" dirty="0">
                <a:latin typeface="Source Sans Pro" panose="020B0503030403020204"/>
              </a:rPr>
              <a:t>-Case beteiligt sind oder der </a:t>
            </a:r>
            <a:r>
              <a:rPr lang="de-DE" dirty="0" err="1">
                <a:latin typeface="Source Sans Pro" panose="020B0503030403020204"/>
              </a:rPr>
              <a:t>Use</a:t>
            </a:r>
            <a:r>
              <a:rPr lang="de-DE" dirty="0">
                <a:latin typeface="Source Sans Pro" panose="020B0503030403020204"/>
              </a:rPr>
              <a:t>-Case für Generalisierung/Spezialisierung verwendet werden soll. </a:t>
            </a:r>
            <a:r>
              <a:rPr lang="de-DE" dirty="0" err="1">
                <a:latin typeface="Source Sans Pro" panose="020B0503030403020204"/>
              </a:rPr>
              <a:t>Include</a:t>
            </a:r>
            <a:r>
              <a:rPr lang="de-DE" dirty="0">
                <a:latin typeface="Source Sans Pro" panose="020B0503030403020204"/>
              </a:rPr>
              <a:t> kann aber auch einfach nur dazu verwendet werden, Zusammenhänge zu modellieren und die Anwendung genauer zu beschreiben.</a:t>
            </a:r>
          </a:p>
          <a:p>
            <a:endParaRPr lang="de-DE" dirty="0">
              <a:latin typeface="Source Sans Pro" panose="020B0503030403020204"/>
            </a:endParaRPr>
          </a:p>
          <a:p>
            <a:r>
              <a:rPr lang="de-DE" dirty="0">
                <a:latin typeface="Source Sans Pro" panose="020B0503030403020204"/>
              </a:rPr>
              <a:t>Wichtig: Auf die Pfeilrichtung achten! Der Pfeil zeigt auf den eingebundenen Anwendungsfall.</a:t>
            </a:r>
          </a:p>
        </p:txBody>
      </p:sp>
      <p:pic>
        <p:nvPicPr>
          <p:cNvPr id="3" name="Grafik 2"/>
          <p:cNvPicPr>
            <a:picLocks noChangeAspect="1"/>
          </p:cNvPicPr>
          <p:nvPr/>
        </p:nvPicPr>
        <p:blipFill>
          <a:blip r:embed="rId2"/>
          <a:stretch>
            <a:fillRect/>
          </a:stretch>
        </p:blipFill>
        <p:spPr>
          <a:xfrm>
            <a:off x="2481811" y="1421476"/>
            <a:ext cx="7791084" cy="1469598"/>
          </a:xfrm>
          <a:prstGeom prst="rect">
            <a:avLst/>
          </a:prstGeom>
        </p:spPr>
      </p:pic>
    </p:spTree>
    <p:extLst>
      <p:ext uri="{BB962C8B-B14F-4D97-AF65-F5344CB8AC3E}">
        <p14:creationId xmlns:p14="http://schemas.microsoft.com/office/powerpoint/2010/main" val="21300268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Syntax</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r>
              <a:rPr lang="de-DE" dirty="0" err="1">
                <a:latin typeface="Source Sans Pro" panose="020B0503030403020204"/>
              </a:rPr>
              <a:t>Extend</a:t>
            </a:r>
            <a:endParaRPr lang="de-DE" dirty="0">
              <a:latin typeface="Source Sans Pro" panose="020B0503030403020204"/>
            </a:endParaRPr>
          </a:p>
        </p:txBody>
      </p:sp>
      <p:sp>
        <p:nvSpPr>
          <p:cNvPr id="8" name="Textfeld 7"/>
          <p:cNvSpPr txBox="1"/>
          <p:nvPr/>
        </p:nvSpPr>
        <p:spPr>
          <a:xfrm>
            <a:off x="420611" y="3502600"/>
            <a:ext cx="10933188" cy="2031325"/>
          </a:xfrm>
          <a:prstGeom prst="rect">
            <a:avLst/>
          </a:prstGeom>
          <a:noFill/>
        </p:spPr>
        <p:txBody>
          <a:bodyPr wrap="square" rtlCol="0">
            <a:spAutoFit/>
          </a:bodyPr>
          <a:lstStyle/>
          <a:p>
            <a:r>
              <a:rPr lang="de-DE" dirty="0">
                <a:latin typeface="Source Sans Pro" panose="020B0503030403020204"/>
              </a:rPr>
              <a:t>Ein Anwendungsfall kann einen anderen Anwendungsfall erweitern. Dies wird über „</a:t>
            </a:r>
            <a:r>
              <a:rPr lang="de-DE" dirty="0" err="1">
                <a:latin typeface="Source Sans Pro" panose="020B0503030403020204"/>
              </a:rPr>
              <a:t>extend</a:t>
            </a:r>
            <a:r>
              <a:rPr lang="de-DE" dirty="0">
                <a:latin typeface="Source Sans Pro" panose="020B0503030403020204"/>
              </a:rPr>
              <a:t>“ gekennzeichnet. Der erweiternde Anwendungsfall wird nur unter einer bestimmten Bedingung mit dem erweiterten Anwendungsfall ausgeführt. </a:t>
            </a:r>
          </a:p>
          <a:p>
            <a:endParaRPr lang="de-DE" dirty="0">
              <a:latin typeface="Source Sans Pro" panose="020B0503030403020204"/>
            </a:endParaRPr>
          </a:p>
          <a:p>
            <a:r>
              <a:rPr lang="de-DE" dirty="0">
                <a:latin typeface="Source Sans Pro" panose="020B0503030403020204"/>
              </a:rPr>
              <a:t>Die Bedingung wird als „Extension Point“ bezeichnet und kann über Notizen detaillierter beschrieben werden.</a:t>
            </a:r>
          </a:p>
          <a:p>
            <a:endParaRPr lang="de-DE" dirty="0">
              <a:latin typeface="Source Sans Pro" panose="020B0503030403020204"/>
            </a:endParaRPr>
          </a:p>
          <a:p>
            <a:r>
              <a:rPr lang="de-DE" dirty="0"/>
              <a:t>Wichtig: Auf die Pfeilrichtung achten! Der Pfeil zeigt auf den erweiterten Anwendungsfall.</a:t>
            </a:r>
          </a:p>
        </p:txBody>
      </p:sp>
      <p:pic>
        <p:nvPicPr>
          <p:cNvPr id="2" name="Grafik 1"/>
          <p:cNvPicPr>
            <a:picLocks noChangeAspect="1"/>
          </p:cNvPicPr>
          <p:nvPr/>
        </p:nvPicPr>
        <p:blipFill>
          <a:blip r:embed="rId2"/>
          <a:stretch>
            <a:fillRect/>
          </a:stretch>
        </p:blipFill>
        <p:spPr>
          <a:xfrm>
            <a:off x="2741570" y="976412"/>
            <a:ext cx="6736512" cy="2019101"/>
          </a:xfrm>
          <a:prstGeom prst="rect">
            <a:avLst/>
          </a:prstGeom>
        </p:spPr>
      </p:pic>
    </p:spTree>
    <p:extLst>
      <p:ext uri="{BB962C8B-B14F-4D97-AF65-F5344CB8AC3E}">
        <p14:creationId xmlns:p14="http://schemas.microsoft.com/office/powerpoint/2010/main" val="1942408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4364737" y="2101561"/>
            <a:ext cx="6383620" cy="707704"/>
          </a:xfrm>
        </p:spPr>
        <p:txBody>
          <a:bodyPr>
            <a:noAutofit/>
          </a:bodyPr>
          <a:lstStyle/>
          <a:p>
            <a:r>
              <a:rPr lang="de-DE" sz="6600" dirty="0">
                <a:latin typeface="Source Sans Pro" panose="020B0503030403020204" pitchFamily="34" charset="0"/>
              </a:rPr>
              <a:t>Übungsaufgabe</a:t>
            </a:r>
          </a:p>
        </p:txBody>
      </p:sp>
    </p:spTree>
    <p:extLst>
      <p:ext uri="{BB962C8B-B14F-4D97-AF65-F5344CB8AC3E}">
        <p14:creationId xmlns:p14="http://schemas.microsoft.com/office/powerpoint/2010/main" val="25728557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Übungsaufgabe</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latin typeface="Source Sans Pro" panose="020B0503030403020204"/>
            </a:endParaRPr>
          </a:p>
        </p:txBody>
      </p:sp>
      <p:sp>
        <p:nvSpPr>
          <p:cNvPr id="8" name="Textfeld 7"/>
          <p:cNvSpPr txBox="1"/>
          <p:nvPr/>
        </p:nvSpPr>
        <p:spPr>
          <a:xfrm>
            <a:off x="361949" y="2153488"/>
            <a:ext cx="10933188" cy="1754326"/>
          </a:xfrm>
          <a:prstGeom prst="rect">
            <a:avLst/>
          </a:prstGeom>
          <a:noFill/>
        </p:spPr>
        <p:txBody>
          <a:bodyPr wrap="square" rtlCol="0">
            <a:spAutoFit/>
          </a:bodyPr>
          <a:lstStyle/>
          <a:p>
            <a:r>
              <a:rPr lang="de-DE" dirty="0">
                <a:latin typeface="Source Sans Pro" panose="020B0503030403020204"/>
              </a:rPr>
              <a:t>Erstellen Sie zu folgendem Sachverhalt ein Anwendungsfall-Diagramm:</a:t>
            </a:r>
          </a:p>
          <a:p>
            <a:endParaRPr lang="de-DE" dirty="0">
              <a:latin typeface="Source Sans Pro" panose="020B0503030403020204"/>
            </a:endParaRPr>
          </a:p>
          <a:p>
            <a:r>
              <a:rPr lang="de-DE" dirty="0">
                <a:latin typeface="Source Sans Pro" panose="020B0503030403020204"/>
              </a:rPr>
              <a:t>Alle Benutzer des Forums können Beiträge lesen.</a:t>
            </a:r>
          </a:p>
          <a:p>
            <a:r>
              <a:rPr lang="de-DE" dirty="0" err="1">
                <a:latin typeface="Source Sans Pro" panose="020B0503030403020204"/>
              </a:rPr>
              <a:t>Unregistrierte</a:t>
            </a:r>
            <a:r>
              <a:rPr lang="de-DE" dirty="0">
                <a:latin typeface="Source Sans Pro" panose="020B0503030403020204"/>
              </a:rPr>
              <a:t> Benutzer können sich registrieren.</a:t>
            </a:r>
          </a:p>
          <a:p>
            <a:r>
              <a:rPr lang="de-DE" dirty="0">
                <a:latin typeface="Source Sans Pro" panose="020B0503030403020204"/>
              </a:rPr>
              <a:t>Registrierte Benutzer können sich einloggen und Beiträge verfassen.</a:t>
            </a:r>
          </a:p>
          <a:p>
            <a:r>
              <a:rPr lang="de-DE" dirty="0">
                <a:latin typeface="Source Sans Pro" panose="020B0503030403020204"/>
              </a:rPr>
              <a:t>Zum Verfassen von Beiträgen müssen sie sich einloggen, wenn sie nicht bereits eingeloggt sind.</a:t>
            </a:r>
            <a:endParaRPr lang="de-DE" dirty="0"/>
          </a:p>
        </p:txBody>
      </p:sp>
    </p:spTree>
    <p:extLst>
      <p:ext uri="{BB962C8B-B14F-4D97-AF65-F5344CB8AC3E}">
        <p14:creationId xmlns:p14="http://schemas.microsoft.com/office/powerpoint/2010/main" val="2688212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95B9AA59-35B9-A008-6749-0A4DB72288F0}"/>
              </a:ext>
            </a:extLst>
          </p:cNvPr>
          <p:cNvSpPr>
            <a:spLocks noGrp="1"/>
          </p:cNvSpPr>
          <p:nvPr>
            <p:ph type="dt" sz="half" idx="10"/>
          </p:nvPr>
        </p:nvSpPr>
        <p:spPr/>
        <p:txBody>
          <a:bodyPr/>
          <a:lstStyle/>
          <a:p>
            <a:fld id="{EE6B0DF4-9D6B-4CDB-97A0-C9570C62FA77}" type="datetime1">
              <a:rPr lang="de-DE" smtClean="0"/>
              <a:t>09.12.2024</a:t>
            </a:fld>
            <a:endParaRPr lang="de-DE" dirty="0"/>
          </a:p>
        </p:txBody>
      </p:sp>
      <p:sp>
        <p:nvSpPr>
          <p:cNvPr id="4" name="Fußzeilenplatzhalter 3">
            <a:extLst>
              <a:ext uri="{FF2B5EF4-FFF2-40B4-BE49-F238E27FC236}">
                <a16:creationId xmlns:a16="http://schemas.microsoft.com/office/drawing/2014/main" id="{7009B8B5-D2B0-D539-D247-7F3A3BCAB3E8}"/>
              </a:ext>
            </a:extLst>
          </p:cNvPr>
          <p:cNvSpPr>
            <a:spLocks noGrp="1"/>
          </p:cNvSpPr>
          <p:nvPr>
            <p:ph type="ftr" sz="quarter" idx="11"/>
          </p:nvPr>
        </p:nvSpPr>
        <p:spPr/>
        <p:txBody>
          <a:bodyPr/>
          <a:lstStyle/>
          <a:p>
            <a:r>
              <a:rPr lang="de-DE"/>
              <a:t>Präsentationsthema</a:t>
            </a:r>
            <a:endParaRPr lang="de-DE" dirty="0"/>
          </a:p>
        </p:txBody>
      </p:sp>
      <p:sp>
        <p:nvSpPr>
          <p:cNvPr id="5" name="Foliennummernplatzhalter 4">
            <a:extLst>
              <a:ext uri="{FF2B5EF4-FFF2-40B4-BE49-F238E27FC236}">
                <a16:creationId xmlns:a16="http://schemas.microsoft.com/office/drawing/2014/main" id="{1E920EBF-BD14-2894-8E73-9AF43032ECAF}"/>
              </a:ext>
            </a:extLst>
          </p:cNvPr>
          <p:cNvSpPr>
            <a:spLocks noGrp="1"/>
          </p:cNvSpPr>
          <p:nvPr>
            <p:ph type="sldNum" sz="quarter" idx="12"/>
          </p:nvPr>
        </p:nvSpPr>
        <p:spPr/>
        <p:txBody>
          <a:bodyPr/>
          <a:lstStyle/>
          <a:p>
            <a:fld id="{220551C3-A462-45EE-8D4B-53AADAADD6D4}" type="slidenum">
              <a:rPr lang="de-DE" smtClean="0"/>
              <a:t>16</a:t>
            </a:fld>
            <a:endParaRPr lang="de-DE" dirty="0"/>
          </a:p>
        </p:txBody>
      </p:sp>
      <p:pic>
        <p:nvPicPr>
          <p:cNvPr id="9" name="Grafik 8">
            <a:extLst>
              <a:ext uri="{FF2B5EF4-FFF2-40B4-BE49-F238E27FC236}">
                <a16:creationId xmlns:a16="http://schemas.microsoft.com/office/drawing/2014/main" id="{D0C875FF-BE43-6C6D-8186-A9B07B15C5CF}"/>
              </a:ext>
            </a:extLst>
          </p:cNvPr>
          <p:cNvPicPr>
            <a:picLocks noChangeAspect="1"/>
          </p:cNvPicPr>
          <p:nvPr/>
        </p:nvPicPr>
        <p:blipFill>
          <a:blip r:embed="rId2"/>
          <a:stretch>
            <a:fillRect/>
          </a:stretch>
        </p:blipFill>
        <p:spPr>
          <a:xfrm>
            <a:off x="5672667" y="793220"/>
            <a:ext cx="6519333" cy="4984100"/>
          </a:xfrm>
          <a:prstGeom prst="rect">
            <a:avLst/>
          </a:prstGeom>
        </p:spPr>
      </p:pic>
      <p:sp>
        <p:nvSpPr>
          <p:cNvPr id="10" name="Textfeld 9">
            <a:extLst>
              <a:ext uri="{FF2B5EF4-FFF2-40B4-BE49-F238E27FC236}">
                <a16:creationId xmlns:a16="http://schemas.microsoft.com/office/drawing/2014/main" id="{857B8E34-10BD-2663-F3AD-C6198D0E6412}"/>
              </a:ext>
            </a:extLst>
          </p:cNvPr>
          <p:cNvSpPr txBox="1"/>
          <p:nvPr/>
        </p:nvSpPr>
        <p:spPr>
          <a:xfrm>
            <a:off x="361949" y="2153488"/>
            <a:ext cx="5734051" cy="2585323"/>
          </a:xfrm>
          <a:prstGeom prst="rect">
            <a:avLst/>
          </a:prstGeom>
          <a:noFill/>
        </p:spPr>
        <p:txBody>
          <a:bodyPr wrap="square" rtlCol="0">
            <a:spAutoFit/>
          </a:bodyPr>
          <a:lstStyle/>
          <a:p>
            <a:r>
              <a:rPr lang="de-DE" dirty="0">
                <a:latin typeface="Source Sans Pro" panose="020B0503030403020204"/>
              </a:rPr>
              <a:t>Erstellen Sie zu folgendem Sachverhalt ein Anwendungsfall-Diagramm:</a:t>
            </a:r>
          </a:p>
          <a:p>
            <a:endParaRPr lang="de-DE" dirty="0">
              <a:latin typeface="Source Sans Pro" panose="020B0503030403020204"/>
            </a:endParaRPr>
          </a:p>
          <a:p>
            <a:r>
              <a:rPr lang="de-DE" dirty="0">
                <a:latin typeface="Source Sans Pro" panose="020B0503030403020204"/>
              </a:rPr>
              <a:t>Alle Benutzer des Forums können Beiträge lesen.</a:t>
            </a:r>
          </a:p>
          <a:p>
            <a:r>
              <a:rPr lang="de-DE" dirty="0" err="1">
                <a:latin typeface="Source Sans Pro" panose="020B0503030403020204"/>
              </a:rPr>
              <a:t>Unregistrierte</a:t>
            </a:r>
            <a:r>
              <a:rPr lang="de-DE" dirty="0">
                <a:latin typeface="Source Sans Pro" panose="020B0503030403020204"/>
              </a:rPr>
              <a:t> Benutzer können sich registrieren.</a:t>
            </a:r>
          </a:p>
          <a:p>
            <a:r>
              <a:rPr lang="de-DE" dirty="0">
                <a:latin typeface="Source Sans Pro" panose="020B0503030403020204"/>
              </a:rPr>
              <a:t>Registrierte Benutzer können sich einloggen und Beiträge verfassen.</a:t>
            </a:r>
          </a:p>
          <a:p>
            <a:r>
              <a:rPr lang="de-DE" dirty="0">
                <a:latin typeface="Source Sans Pro" panose="020B0503030403020204"/>
              </a:rPr>
              <a:t>Zum Verfassen von Beiträgen müssen sie sich einloggen, wenn sie nicht bereits eingeloggt sind.</a:t>
            </a:r>
            <a:endParaRPr lang="de-DE" dirty="0"/>
          </a:p>
        </p:txBody>
      </p:sp>
      <p:sp>
        <p:nvSpPr>
          <p:cNvPr id="11" name="Titel 10">
            <a:extLst>
              <a:ext uri="{FF2B5EF4-FFF2-40B4-BE49-F238E27FC236}">
                <a16:creationId xmlns:a16="http://schemas.microsoft.com/office/drawing/2014/main" id="{E414F449-A8AF-9367-E649-8DB47480E4F5}"/>
              </a:ext>
            </a:extLst>
          </p:cNvPr>
          <p:cNvSpPr>
            <a:spLocks noGrp="1"/>
          </p:cNvSpPr>
          <p:nvPr>
            <p:ph type="title"/>
          </p:nvPr>
        </p:nvSpPr>
        <p:spPr>
          <a:xfrm>
            <a:off x="420611" y="383340"/>
            <a:ext cx="7181378" cy="720725"/>
          </a:xfrm>
        </p:spPr>
        <p:txBody>
          <a:bodyPr/>
          <a:lstStyle/>
          <a:p>
            <a:r>
              <a:rPr lang="de-DE" dirty="0">
                <a:latin typeface="Source Sans Pro" panose="020B0503030403020204" pitchFamily="34" charset="0"/>
              </a:rPr>
              <a:t>Lösung</a:t>
            </a:r>
            <a:endParaRPr lang="de-DE" sz="2000" b="0" i="1" dirty="0">
              <a:latin typeface="Source Sans Pro" panose="020B0503030403020204" pitchFamily="34" charset="0"/>
            </a:endParaRPr>
          </a:p>
        </p:txBody>
      </p:sp>
    </p:spTree>
    <p:extLst>
      <p:ext uri="{BB962C8B-B14F-4D97-AF65-F5344CB8AC3E}">
        <p14:creationId xmlns:p14="http://schemas.microsoft.com/office/powerpoint/2010/main" val="26527679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7" name="Textplatzhalter 6"/>
          <p:cNvSpPr>
            <a:spLocks noGrp="1"/>
          </p:cNvSpPr>
          <p:nvPr>
            <p:ph type="body" sz="quarter" idx="13"/>
          </p:nvPr>
        </p:nvSpPr>
        <p:spPr>
          <a:xfrm>
            <a:off x="1664955" y="2344103"/>
            <a:ext cx="8686800" cy="1455737"/>
          </a:xfrm>
        </p:spPr>
        <p:txBody>
          <a:bodyPr/>
          <a:lstStyle/>
          <a:p>
            <a:r>
              <a:rPr lang="de-DE" dirty="0">
                <a:latin typeface="Source Sans Pro" panose="020B0503030403020204" pitchFamily="34" charset="0"/>
              </a:rPr>
              <a:t>Vielen Dank für Ihre Aufmerksamkeit!</a:t>
            </a: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88380223"/>
      </p:ext>
    </p:extLst>
  </p:cSld>
  <p:clrMapOvr>
    <a:masterClrMapping/>
  </p:clrMapOvr>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Benutzerdefiniert 1">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5dddc5a-7197-42e1-81a4-1c8e6728b841" xsi:nil="true"/>
    <lcf76f155ced4ddcb4097134ff3c332f xmlns="fc118cd3-da79-41a1-9ba6-4f8cbcc59164">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D636508A6767AE46A7CD696DA562C65E" ma:contentTypeVersion="12" ma:contentTypeDescription="Ein neues Dokument erstellen." ma:contentTypeScope="" ma:versionID="3305398b8d7f16bafbd4ddc602729996">
  <xsd:schema xmlns:xsd="http://www.w3.org/2001/XMLSchema" xmlns:xs="http://www.w3.org/2001/XMLSchema" xmlns:p="http://schemas.microsoft.com/office/2006/metadata/properties" xmlns:ns2="fc118cd3-da79-41a1-9ba6-4f8cbcc59164" xmlns:ns3="f5dddc5a-7197-42e1-81a4-1c8e6728b841" targetNamespace="http://schemas.microsoft.com/office/2006/metadata/properties" ma:root="true" ma:fieldsID="4ab38b08190fe8fa7f1a95a41e70b8cd" ns2:_="" ns3:_="">
    <xsd:import namespace="fc118cd3-da79-41a1-9ba6-4f8cbcc59164"/>
    <xsd:import namespace="f5dddc5a-7197-42e1-81a4-1c8e6728b841"/>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118cd3-da79-41a1-9ba6-4f8cbcc5916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Bildmarkierungen" ma:readOnly="false" ma:fieldId="{5cf76f15-5ced-4ddc-b409-7134ff3c332f}" ma:taxonomyMulti="true" ma:sspId="9f0a14e0-267a-4aec-938c-d787320d60a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5dddc5a-7197-42e1-81a4-1c8e6728b841" elementFormDefault="qualified">
    <xsd:import namespace="http://schemas.microsoft.com/office/2006/documentManagement/types"/>
    <xsd:import namespace="http://schemas.microsoft.com/office/infopath/2007/PartnerControls"/>
    <xsd:element name="SharedWithUsers" ma:index="10"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Freigegeben für - Details" ma:internalName="SharedWithDetails" ma:readOnly="true">
      <xsd:simpleType>
        <xsd:restriction base="dms:Note">
          <xsd:maxLength value="255"/>
        </xsd:restriction>
      </xsd:simpleType>
    </xsd:element>
    <xsd:element name="TaxCatchAll" ma:index="17" nillable="true" ma:displayName="Taxonomy Catch All Column" ma:hidden="true" ma:list="{5590e435-d6b7-479e-b0e4-1656dc3ba1fa}" ma:internalName="TaxCatchAll" ma:showField="CatchAllData" ma:web="f5dddc5a-7197-42e1-81a4-1c8e6728b84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2811771-6B9A-4C54-861D-A0431921FAA9}">
  <ds:schemaRefs>
    <ds:schemaRef ds:uri="http://schemas.microsoft.com/office/2006/metadata/properties"/>
    <ds:schemaRef ds:uri="http://schemas.microsoft.com/office/infopath/2007/PartnerControls"/>
    <ds:schemaRef ds:uri="f5dddc5a-7197-42e1-81a4-1c8e6728b841"/>
    <ds:schemaRef ds:uri="fc118cd3-da79-41a1-9ba6-4f8cbcc59164"/>
  </ds:schemaRefs>
</ds:datastoreItem>
</file>

<file path=customXml/itemProps2.xml><?xml version="1.0" encoding="utf-8"?>
<ds:datastoreItem xmlns:ds="http://schemas.openxmlformats.org/officeDocument/2006/customXml" ds:itemID="{407B4394-64A1-440E-AA1C-B0C110271BB2}">
  <ds:schemaRefs>
    <ds:schemaRef ds:uri="http://schemas.microsoft.com/sharepoint/v3/contenttype/forms"/>
  </ds:schemaRefs>
</ds:datastoreItem>
</file>

<file path=customXml/itemProps3.xml><?xml version="1.0" encoding="utf-8"?>
<ds:datastoreItem xmlns:ds="http://schemas.openxmlformats.org/officeDocument/2006/customXml" ds:itemID="{7A190288-1456-411B-A463-C72843AAF64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c118cd3-da79-41a1-9ba6-4f8cbcc59164"/>
    <ds:schemaRef ds:uri="f5dddc5a-7197-42e1-81a4-1c8e6728b84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735</Words>
  <Application>Microsoft Office PowerPoint</Application>
  <PresentationFormat>Breitbild</PresentationFormat>
  <Paragraphs>117</Paragraphs>
  <Slides>17</Slides>
  <Notes>0</Notes>
  <HiddenSlides>1</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17</vt:i4>
      </vt:variant>
    </vt:vector>
  </HeadingPairs>
  <TitlesOfParts>
    <vt:vector size="21" baseType="lpstr">
      <vt:lpstr>Arial</vt:lpstr>
      <vt:lpstr>Calibri</vt:lpstr>
      <vt:lpstr>Source Sans Pro</vt:lpstr>
      <vt:lpstr>1_Office</vt:lpstr>
      <vt:lpstr>UML Anwendungsfalldiagramm</vt:lpstr>
      <vt:lpstr>Agenda</vt:lpstr>
      <vt:lpstr>PowerPoint-Präsentation</vt:lpstr>
      <vt:lpstr>Übersicht</vt:lpstr>
      <vt:lpstr>Übersicht</vt:lpstr>
      <vt:lpstr>PowerPoint-Präsentation</vt:lpstr>
      <vt:lpstr>Syntax</vt:lpstr>
      <vt:lpstr>Syntax</vt:lpstr>
      <vt:lpstr>Syntax</vt:lpstr>
      <vt:lpstr>Syntax</vt:lpstr>
      <vt:lpstr>Syntax</vt:lpstr>
      <vt:lpstr>Syntax</vt:lpstr>
      <vt:lpstr>Syntax</vt:lpstr>
      <vt:lpstr>PowerPoint-Präsentation</vt:lpstr>
      <vt:lpstr>Übungsaufgabe</vt:lpstr>
      <vt:lpstr>Lösung</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Datenbanken und SQL</dc:title>
  <dc:creator>Max Muster01</dc:creator>
  <cp:lastModifiedBy>Sina Cirillo</cp:lastModifiedBy>
  <cp:revision>151</cp:revision>
  <dcterms:created xsi:type="dcterms:W3CDTF">2022-02-01T13:48:14Z</dcterms:created>
  <dcterms:modified xsi:type="dcterms:W3CDTF">2024-12-09T16:04:02Z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0x010100D636508A6767AE46A7CD696DA562C65E</vt:lpwstr>
  </property>
</Properties>
</file>