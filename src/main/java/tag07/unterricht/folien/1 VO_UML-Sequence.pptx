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8" r:id="rId6"/>
    <p:sldId id="260" r:id="rId7"/>
    <p:sldId id="261" r:id="rId8"/>
    <p:sldId id="294" r:id="rId9"/>
    <p:sldId id="279" r:id="rId10"/>
    <p:sldId id="268" r:id="rId11"/>
    <p:sldId id="280" r:id="rId12"/>
    <p:sldId id="295" r:id="rId13"/>
    <p:sldId id="296" r:id="rId14"/>
    <p:sldId id="298" r:id="rId15"/>
    <p:sldId id="297" r:id="rId16"/>
    <p:sldId id="259"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7" d="100"/>
          <a:sy n="87" d="100"/>
        </p:scale>
        <p:origin x="84"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a Cirillo" userId="ff3c6fee-9458-4f54-8808-434556788b2e" providerId="ADAL" clId="{C6832699-4AE1-4BD0-A255-3F9F6F4B8F83}"/>
    <pc:docChg chg="modSld">
      <pc:chgData name="Sina Cirillo" userId="ff3c6fee-9458-4f54-8808-434556788b2e" providerId="ADAL" clId="{C6832699-4AE1-4BD0-A255-3F9F6F4B8F83}" dt="2025-11-25T09:28:18.292" v="0" actId="13926"/>
      <pc:docMkLst>
        <pc:docMk/>
      </pc:docMkLst>
      <pc:sldChg chg="modSp mod">
        <pc:chgData name="Sina Cirillo" userId="ff3c6fee-9458-4f54-8808-434556788b2e" providerId="ADAL" clId="{C6832699-4AE1-4BD0-A255-3F9F6F4B8F83}" dt="2025-11-25T09:28:18.292" v="0" actId="13926"/>
        <pc:sldMkLst>
          <pc:docMk/>
          <pc:sldMk cId="1957571862" sldId="297"/>
        </pc:sldMkLst>
        <pc:spChg chg="mod">
          <ac:chgData name="Sina Cirillo" userId="ff3c6fee-9458-4f54-8808-434556788b2e" providerId="ADAL" clId="{C6832699-4AE1-4BD0-A255-3F9F6F4B8F83}" dt="2025-11-25T09:28:18.292" v="0" actId="13926"/>
          <ac:spMkLst>
            <pc:docMk/>
            <pc:sldMk cId="1957571862" sldId="297"/>
            <ac:spMk id="8" creationId="{00000000-0000-0000-0000-000000000000}"/>
          </ac:spMkLst>
        </pc:spChg>
      </pc:sldChg>
    </pc:docChg>
  </pc:docChgLst>
  <pc:docChgLst>
    <pc:chgData name="Sina Cirillo" userId="ff3c6fee-9458-4f54-8808-434556788b2e" providerId="ADAL" clId="{50ED43FD-6727-4788-89EB-C8CD92E951AF}"/>
    <pc:docChg chg="custSel delSld modSld">
      <pc:chgData name="Sina Cirillo" userId="ff3c6fee-9458-4f54-8808-434556788b2e" providerId="ADAL" clId="{50ED43FD-6727-4788-89EB-C8CD92E951AF}" dt="2025-05-06T12:45:51.981" v="23"/>
      <pc:docMkLst>
        <pc:docMk/>
      </pc:docMkLst>
      <pc:sldChg chg="addSp modSp mod modAnim">
        <pc:chgData name="Sina Cirillo" userId="ff3c6fee-9458-4f54-8808-434556788b2e" providerId="ADAL" clId="{50ED43FD-6727-4788-89EB-C8CD92E951AF}" dt="2025-05-06T12:45:51.981" v="23"/>
        <pc:sldMkLst>
          <pc:docMk/>
          <pc:sldMk cId="1970022514" sldId="261"/>
        </pc:sldMkLst>
      </pc:sldChg>
      <pc:sldChg chg="delSp modSp del mod">
        <pc:chgData name="Sina Cirillo" userId="ff3c6fee-9458-4f54-8808-434556788b2e" providerId="ADAL" clId="{50ED43FD-6727-4788-89EB-C8CD92E951AF}" dt="2025-05-06T12:45:33.496" v="21" actId="2696"/>
        <pc:sldMkLst>
          <pc:docMk/>
          <pc:sldMk cId="3676969111" sldId="293"/>
        </pc:sldMkLst>
      </pc:sldChg>
    </pc:docChg>
  </pc:docChgLst>
  <pc:docChgLst>
    <pc:chgData name="Sina Cirillo" userId="ff3c6fee-9458-4f54-8808-434556788b2e" providerId="ADAL" clId="{6FBAC202-DE82-4FE1-B77C-B55D0F648A11}"/>
    <pc:docChg chg="custSel modSld">
      <pc:chgData name="Sina Cirillo" userId="ff3c6fee-9458-4f54-8808-434556788b2e" providerId="ADAL" clId="{6FBAC202-DE82-4FE1-B77C-B55D0F648A11}" dt="2024-12-11T07:52:53.112" v="280" actId="20577"/>
      <pc:docMkLst>
        <pc:docMk/>
      </pc:docMkLst>
      <pc:sldChg chg="modSp mod">
        <pc:chgData name="Sina Cirillo" userId="ff3c6fee-9458-4f54-8808-434556788b2e" providerId="ADAL" clId="{6FBAC202-DE82-4FE1-B77C-B55D0F648A11}" dt="2024-12-11T07:52:53.112" v="280" actId="20577"/>
        <pc:sldMkLst>
          <pc:docMk/>
          <pc:sldMk cId="2227690353" sldId="295"/>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25.11.2025</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25.11.2025</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25.11.2025</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25.11.2025</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25.11.2025</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25.11.2025</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25.11.2025</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25.11.2025</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25.11.2025</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25.11.2025</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25.11.2025</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25.11.2025</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UML Sequenzdiagramm</a:t>
            </a:r>
          </a:p>
        </p:txBody>
      </p:sp>
      <p:sp>
        <p:nvSpPr>
          <p:cNvPr id="6" name="Untertitel 5"/>
          <p:cNvSpPr>
            <a:spLocks noGrp="1"/>
          </p:cNvSpPr>
          <p:nvPr>
            <p:ph type="subTitle" idx="1"/>
          </p:nvPr>
        </p:nvSpPr>
        <p:spPr/>
        <p:txBody>
          <a:bodyPr/>
          <a:lstStyle/>
          <a:p>
            <a:r>
              <a:rPr lang="de-DE" b="1" dirty="0">
                <a:latin typeface="Source Sans Pro" panose="020B0503030403020204" pitchFamily="34" charset="0"/>
              </a:rPr>
              <a:t>Objektorientierte Programmierung</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0713719" cy="2308324"/>
          </a:xfrm>
          <a:prstGeom prst="rect">
            <a:avLst/>
          </a:prstGeom>
          <a:noFill/>
        </p:spPr>
        <p:txBody>
          <a:bodyPr wrap="square" rtlCol="0">
            <a:spAutoFit/>
          </a:bodyPr>
          <a:lstStyle/>
          <a:p>
            <a:endParaRPr lang="de-DE" b="1" dirty="0">
              <a:latin typeface="Source Sans Pro" panose="020B0503030403020204"/>
            </a:endParaRPr>
          </a:p>
          <a:p>
            <a:pPr marL="285750" indent="-285750">
              <a:buFontTx/>
              <a:buChar char="-"/>
            </a:pPr>
            <a:r>
              <a:rPr lang="de-DE" dirty="0">
                <a:latin typeface="Source Sans Pro" panose="020B0503030403020204"/>
              </a:rPr>
              <a:t>Übersicht</a:t>
            </a:r>
          </a:p>
          <a:p>
            <a:pPr marL="742950" lvl="1" indent="-285750">
              <a:buFontTx/>
              <a:buChar char="-"/>
            </a:pPr>
            <a:r>
              <a:rPr lang="de-DE" dirty="0">
                <a:latin typeface="Source Sans Pro" panose="020B0503030403020204"/>
              </a:rPr>
              <a:t>Beispiel</a:t>
            </a:r>
          </a:p>
          <a:p>
            <a:pPr marL="285750" indent="-285750">
              <a:buFontTx/>
              <a:buChar char="-"/>
            </a:pPr>
            <a:r>
              <a:rPr lang="de-DE" dirty="0">
                <a:latin typeface="Source Sans Pro" panose="020B0503030403020204"/>
              </a:rPr>
              <a:t>Syntax</a:t>
            </a:r>
          </a:p>
          <a:p>
            <a:pPr marL="742950" lvl="1" indent="-285750">
              <a:buFontTx/>
              <a:buChar char="-"/>
            </a:pPr>
            <a:r>
              <a:rPr lang="de-DE" dirty="0">
                <a:latin typeface="Source Sans Pro" panose="020B0503030403020204"/>
              </a:rPr>
              <a:t>Klassen, Objekte, Lebenslinien und Ausführung</a:t>
            </a:r>
          </a:p>
          <a:p>
            <a:pPr marL="742950" lvl="1" indent="-285750">
              <a:buFontTx/>
              <a:buChar char="-"/>
            </a:pPr>
            <a:r>
              <a:rPr lang="de-DE" dirty="0">
                <a:latin typeface="Source Sans Pro" panose="020B0503030403020204"/>
              </a:rPr>
              <a:t>Nachrichten und Selbstaufruf</a:t>
            </a:r>
          </a:p>
          <a:p>
            <a:pPr marL="742950" lvl="1" indent="-285750">
              <a:buFontTx/>
              <a:buChar char="-"/>
            </a:pPr>
            <a:r>
              <a:rPr lang="de-DE" dirty="0">
                <a:latin typeface="Source Sans Pro" panose="020B0503030403020204"/>
              </a:rPr>
              <a:t>Verzweigung und Schleifen</a:t>
            </a:r>
          </a:p>
          <a:p>
            <a:pPr marL="285750" indent="-285750">
              <a:buFontTx/>
              <a:buChar char="-"/>
            </a:pPr>
            <a:r>
              <a:rPr lang="de-DE" dirty="0">
                <a:latin typeface="Source Sans Pro" panose="020B0503030403020204"/>
              </a:rPr>
              <a:t>Übungsaufgabe</a:t>
            </a:r>
          </a:p>
        </p:txBody>
      </p:sp>
    </p:spTree>
    <p:extLst>
      <p:ext uri="{BB962C8B-B14F-4D97-AF65-F5344CB8AC3E}">
        <p14:creationId xmlns:p14="http://schemas.microsoft.com/office/powerpoint/2010/main" val="4092280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Übersicht</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420611" y="2620548"/>
            <a:ext cx="11495754" cy="714373"/>
          </a:xfrm>
        </p:spPr>
        <p:txBody>
          <a:bodyPr/>
          <a:lstStyle/>
          <a:p>
            <a:r>
              <a:rPr lang="de-DE" dirty="0">
                <a:latin typeface="Source Sans Pro" panose="020B0503030403020204"/>
              </a:rPr>
              <a:t>Beispiel</a:t>
            </a:r>
          </a:p>
        </p:txBody>
      </p:sp>
      <p:sp>
        <p:nvSpPr>
          <p:cNvPr id="9"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7720706" y="1835799"/>
            <a:ext cx="4471294" cy="3374562"/>
          </a:xfrm>
          <a:prstGeom prst="rect">
            <a:avLst/>
          </a:prstGeom>
        </p:spPr>
      </p:pic>
      <p:sp>
        <p:nvSpPr>
          <p:cNvPr id="6" name="Textfeld 5"/>
          <p:cNvSpPr txBox="1"/>
          <p:nvPr/>
        </p:nvSpPr>
        <p:spPr>
          <a:xfrm>
            <a:off x="420611" y="3067206"/>
            <a:ext cx="7542289" cy="1477328"/>
          </a:xfrm>
          <a:prstGeom prst="rect">
            <a:avLst/>
          </a:prstGeom>
          <a:noFill/>
        </p:spPr>
        <p:txBody>
          <a:bodyPr wrap="square" rtlCol="0">
            <a:spAutoFit/>
          </a:bodyPr>
          <a:lstStyle/>
          <a:p>
            <a:r>
              <a:rPr lang="de-DE" dirty="0"/>
              <a:t>Ein Objekt der Klasse Kunde ruft die Methode Einzahlen mit einem Betrag auf einem Objekt der Klasse Konto auf.</a:t>
            </a:r>
          </a:p>
          <a:p>
            <a:r>
              <a:rPr lang="de-DE" dirty="0"/>
              <a:t>Das Konto bucht den Betrag auf sich selbst mit der Buchen()-Methode und gibt „OK“ zurück. Die Einzahlen()-Methode gibt „Erfolgreich“ an den Kunden zurück.</a:t>
            </a:r>
          </a:p>
        </p:txBody>
      </p:sp>
      <p:sp>
        <p:nvSpPr>
          <p:cNvPr id="7" name="Textfeld 6">
            <a:extLst>
              <a:ext uri="{FF2B5EF4-FFF2-40B4-BE49-F238E27FC236}">
                <a16:creationId xmlns:a16="http://schemas.microsoft.com/office/drawing/2014/main" id="{87E6D27C-EBE7-1E64-D5C7-E20596B5A9EC}"/>
              </a:ext>
            </a:extLst>
          </p:cNvPr>
          <p:cNvSpPr txBox="1"/>
          <p:nvPr/>
        </p:nvSpPr>
        <p:spPr>
          <a:xfrm>
            <a:off x="420611" y="1322396"/>
            <a:ext cx="10534650" cy="646331"/>
          </a:xfrm>
          <a:prstGeom prst="rect">
            <a:avLst/>
          </a:prstGeom>
          <a:noFill/>
        </p:spPr>
        <p:txBody>
          <a:bodyPr wrap="square">
            <a:spAutoFit/>
          </a:bodyPr>
          <a:lstStyle/>
          <a:p>
            <a:r>
              <a:rPr lang="de-DE" dirty="0">
                <a:latin typeface="Source Sans Pro" panose="020B0503030403020204"/>
              </a:rPr>
              <a:t>Ein Sequenzdiagramm (</a:t>
            </a:r>
            <a:r>
              <a:rPr lang="de-DE" dirty="0" err="1">
                <a:latin typeface="Source Sans Pro" panose="020B0503030403020204"/>
              </a:rPr>
              <a:t>Sequence</a:t>
            </a:r>
            <a:r>
              <a:rPr lang="de-DE" dirty="0">
                <a:latin typeface="Source Sans Pro" panose="020B0503030403020204"/>
              </a:rPr>
              <a:t> </a:t>
            </a:r>
            <a:r>
              <a:rPr lang="de-DE" dirty="0" err="1">
                <a:latin typeface="Source Sans Pro" panose="020B0503030403020204"/>
              </a:rPr>
              <a:t>Diagram</a:t>
            </a:r>
            <a:r>
              <a:rPr lang="de-DE" dirty="0">
                <a:latin typeface="Source Sans Pro" panose="020B0503030403020204"/>
              </a:rPr>
              <a:t>) wird verwendet, um den zeitlichen Ablauf von Methodenaufrufen und Kommunikation zwischen Objekten zu modellieren.</a:t>
            </a:r>
          </a:p>
        </p:txBody>
      </p:sp>
    </p:spTree>
    <p:extLst>
      <p:ext uri="{BB962C8B-B14F-4D97-AF65-F5344CB8AC3E}">
        <p14:creationId xmlns:p14="http://schemas.microsoft.com/office/powerpoint/2010/main" val="197002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Beispiel</a:t>
            </a:r>
          </a:p>
        </p:txBody>
      </p:sp>
      <p:sp>
        <p:nvSpPr>
          <p:cNvPr id="9"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sp>
        <p:nvSpPr>
          <p:cNvPr id="6" name="Textfeld 5"/>
          <p:cNvSpPr txBox="1"/>
          <p:nvPr/>
        </p:nvSpPr>
        <p:spPr>
          <a:xfrm>
            <a:off x="361951" y="2224822"/>
            <a:ext cx="5747876" cy="2308324"/>
          </a:xfrm>
          <a:prstGeom prst="rect">
            <a:avLst/>
          </a:prstGeom>
          <a:noFill/>
        </p:spPr>
        <p:txBody>
          <a:bodyPr wrap="square" rtlCol="0">
            <a:spAutoFit/>
          </a:bodyPr>
          <a:lstStyle/>
          <a:p>
            <a:r>
              <a:rPr lang="de-DE" dirty="0"/>
              <a:t>Der Chefkoch erzeugt ein Objekt von Ei und weist die Küchenhilfe an, das Ei zu kochen. Die Küchenhilfe erhitzt das Ei und gibt es an den Chefkoch zurück, sobald es erhitzt ist.</a:t>
            </a:r>
          </a:p>
          <a:p>
            <a:endParaRPr lang="de-DE" dirty="0"/>
          </a:p>
          <a:p>
            <a:r>
              <a:rPr lang="de-DE" dirty="0"/>
              <a:t>Während das Ei kocht, können Chefkoch und Küchenhilfe andere Aufgaben erledigen und müssen erst wieder aktiv werden, wenn das Ei fertig gekocht ist.</a:t>
            </a:r>
          </a:p>
        </p:txBody>
      </p:sp>
      <p:pic>
        <p:nvPicPr>
          <p:cNvPr id="3" name="Grafik 2"/>
          <p:cNvPicPr>
            <a:picLocks noChangeAspect="1"/>
          </p:cNvPicPr>
          <p:nvPr/>
        </p:nvPicPr>
        <p:blipFill>
          <a:blip r:embed="rId2"/>
          <a:stretch>
            <a:fillRect/>
          </a:stretch>
        </p:blipFill>
        <p:spPr>
          <a:xfrm>
            <a:off x="6109826" y="257962"/>
            <a:ext cx="5953125" cy="5419725"/>
          </a:xfrm>
          <a:prstGeom prst="rect">
            <a:avLst/>
          </a:prstGeom>
        </p:spPr>
      </p:pic>
    </p:spTree>
    <p:extLst>
      <p:ext uri="{BB962C8B-B14F-4D97-AF65-F5344CB8AC3E}">
        <p14:creationId xmlns:p14="http://schemas.microsoft.com/office/powerpoint/2010/main" val="22952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Syntax</a:t>
            </a:r>
          </a:p>
        </p:txBody>
      </p:sp>
    </p:spTree>
    <p:extLst>
      <p:ext uri="{BB962C8B-B14F-4D97-AF65-F5344CB8AC3E}">
        <p14:creationId xmlns:p14="http://schemas.microsoft.com/office/powerpoint/2010/main" val="3534886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t>Klassen, Objekte, Lebenslinien und Ausführung</a:t>
            </a:r>
          </a:p>
        </p:txBody>
      </p:sp>
      <p:sp>
        <p:nvSpPr>
          <p:cNvPr id="8" name="Textfeld 7"/>
          <p:cNvSpPr txBox="1"/>
          <p:nvPr/>
        </p:nvSpPr>
        <p:spPr>
          <a:xfrm>
            <a:off x="420611" y="1895015"/>
            <a:ext cx="6100539" cy="3970318"/>
          </a:xfrm>
          <a:prstGeom prst="rect">
            <a:avLst/>
          </a:prstGeom>
          <a:noFill/>
        </p:spPr>
        <p:txBody>
          <a:bodyPr wrap="square" rtlCol="0">
            <a:spAutoFit/>
          </a:bodyPr>
          <a:lstStyle/>
          <a:p>
            <a:r>
              <a:rPr lang="de-DE" dirty="0">
                <a:latin typeface="Source Sans Pro" panose="020B0503030403020204"/>
              </a:rPr>
              <a:t>Objekte werden in Rechtecken dargestellt und haben unter sich eine Lebenslinie.</a:t>
            </a:r>
          </a:p>
          <a:p>
            <a:endParaRPr lang="de-DE" dirty="0">
              <a:latin typeface="Source Sans Pro" panose="020B0503030403020204"/>
            </a:endParaRPr>
          </a:p>
          <a:p>
            <a:r>
              <a:rPr lang="de-DE" dirty="0">
                <a:latin typeface="Source Sans Pro" panose="020B0503030403020204"/>
              </a:rPr>
              <a:t>Die Lebenslinie ist eine unterbrochene Linie und zeigt, wie lange ein Objekt existiert.</a:t>
            </a:r>
          </a:p>
          <a:p>
            <a:endParaRPr lang="de-DE" dirty="0">
              <a:latin typeface="Source Sans Pro" panose="020B0503030403020204"/>
            </a:endParaRPr>
          </a:p>
          <a:p>
            <a:r>
              <a:rPr lang="de-DE" dirty="0">
                <a:latin typeface="Source Sans Pro" panose="020B0503030403020204"/>
              </a:rPr>
              <a:t>Auf einer Lebenslinie ist die Ausführung. Die Ausführung gibt an, wann ein Objekt aktiv wird. Ein Objekt ist aktiv, wenn es Methoden aufruft oder Methoden von ihr aufgerufen werden.</a:t>
            </a:r>
          </a:p>
          <a:p>
            <a:endParaRPr lang="de-DE" dirty="0">
              <a:latin typeface="Source Sans Pro" panose="020B0503030403020204"/>
            </a:endParaRPr>
          </a:p>
          <a:p>
            <a:r>
              <a:rPr lang="de-DE" dirty="0">
                <a:latin typeface="Source Sans Pro" panose="020B0503030403020204"/>
              </a:rPr>
              <a:t>Wird ein Objekt zerstört, wird dies durch ein X am Ende der Lebenslinie dargestellt. Eine Objektzerstörung wird nur modelliert, wenn auch tatsächlich eine Objektzerstörung stattfindet.</a:t>
            </a:r>
          </a:p>
        </p:txBody>
      </p:sp>
      <p:pic>
        <p:nvPicPr>
          <p:cNvPr id="6" name="Grafik 5"/>
          <p:cNvPicPr>
            <a:picLocks noChangeAspect="1"/>
          </p:cNvPicPr>
          <p:nvPr/>
        </p:nvPicPr>
        <p:blipFill>
          <a:blip r:embed="rId2"/>
          <a:stretch>
            <a:fillRect/>
          </a:stretch>
        </p:blipFill>
        <p:spPr>
          <a:xfrm>
            <a:off x="7601989" y="886762"/>
            <a:ext cx="2646131" cy="4272067"/>
          </a:xfrm>
          <a:prstGeom prst="rect">
            <a:avLst/>
          </a:prstGeom>
        </p:spPr>
      </p:pic>
    </p:spTree>
    <p:extLst>
      <p:ext uri="{BB962C8B-B14F-4D97-AF65-F5344CB8AC3E}">
        <p14:creationId xmlns:p14="http://schemas.microsoft.com/office/powerpoint/2010/main" val="3357073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t>Nachrichten und Selbstaufruf</a:t>
            </a:r>
          </a:p>
        </p:txBody>
      </p:sp>
      <p:sp>
        <p:nvSpPr>
          <p:cNvPr id="8" name="Textfeld 7"/>
          <p:cNvSpPr txBox="1"/>
          <p:nvPr/>
        </p:nvSpPr>
        <p:spPr>
          <a:xfrm>
            <a:off x="420611" y="2356642"/>
            <a:ext cx="6365343" cy="3416320"/>
          </a:xfrm>
          <a:prstGeom prst="rect">
            <a:avLst/>
          </a:prstGeom>
          <a:noFill/>
        </p:spPr>
        <p:txBody>
          <a:bodyPr wrap="square" rtlCol="0">
            <a:spAutoFit/>
          </a:bodyPr>
          <a:lstStyle/>
          <a:p>
            <a:r>
              <a:rPr lang="de-DE" dirty="0">
                <a:latin typeface="Source Sans Pro" panose="020B0503030403020204"/>
              </a:rPr>
              <a:t>In einem Sequenzdiagramm kommunizieren Objekte miteinander. Diese Kommunikation stellt den zeitlichen Ablauf </a:t>
            </a:r>
            <a:r>
              <a:rPr lang="de-DE">
                <a:latin typeface="Source Sans Pro" panose="020B0503030403020204"/>
              </a:rPr>
              <a:t>der Methodenaufrufe </a:t>
            </a:r>
            <a:r>
              <a:rPr lang="de-DE" dirty="0">
                <a:latin typeface="Source Sans Pro" panose="020B0503030403020204"/>
              </a:rPr>
              <a:t>dar.</a:t>
            </a:r>
          </a:p>
          <a:p>
            <a:r>
              <a:rPr lang="de-DE" dirty="0">
                <a:latin typeface="Source Sans Pro" panose="020B0503030403020204"/>
              </a:rPr>
              <a:t>Der zeitliche Ablauf ist dabei immer von oben nach unten.</a:t>
            </a:r>
          </a:p>
          <a:p>
            <a:endParaRPr lang="de-DE" dirty="0">
              <a:latin typeface="Source Sans Pro" panose="020B0503030403020204"/>
            </a:endParaRPr>
          </a:p>
          <a:p>
            <a:r>
              <a:rPr lang="de-DE" dirty="0">
                <a:latin typeface="Source Sans Pro" panose="020B0503030403020204"/>
              </a:rPr>
              <a:t>Objekte können Methoden von anderen Objekten aufrufen, aber auch Methoden von sich selbst. Der Selbstaufruf ist dabei mit einer erneuten (quasi verschachtelten) Aktivität des Objektes verbunden.</a:t>
            </a:r>
          </a:p>
          <a:p>
            <a:endParaRPr lang="de-DE" dirty="0">
              <a:latin typeface="Source Sans Pro" panose="020B0503030403020204"/>
            </a:endParaRPr>
          </a:p>
          <a:p>
            <a:r>
              <a:rPr lang="de-DE" dirty="0">
                <a:latin typeface="Source Sans Pro" panose="020B0503030403020204"/>
              </a:rPr>
              <a:t>Ist die Verarbeitung eines Methodenaufrufes abgeschlossen, erfolgt in der Regel auch eine Antwort der Methode.</a:t>
            </a:r>
          </a:p>
        </p:txBody>
      </p:sp>
      <p:pic>
        <p:nvPicPr>
          <p:cNvPr id="3" name="Grafik 2"/>
          <p:cNvPicPr>
            <a:picLocks noChangeAspect="1"/>
          </p:cNvPicPr>
          <p:nvPr/>
        </p:nvPicPr>
        <p:blipFill>
          <a:blip r:embed="rId2"/>
          <a:stretch>
            <a:fillRect/>
          </a:stretch>
        </p:blipFill>
        <p:spPr>
          <a:xfrm>
            <a:off x="6882937" y="613360"/>
            <a:ext cx="5030045" cy="3908764"/>
          </a:xfrm>
          <a:prstGeom prst="rect">
            <a:avLst/>
          </a:prstGeom>
        </p:spPr>
      </p:pic>
    </p:spTree>
    <p:extLst>
      <p:ext uri="{BB962C8B-B14F-4D97-AF65-F5344CB8AC3E}">
        <p14:creationId xmlns:p14="http://schemas.microsoft.com/office/powerpoint/2010/main" val="366435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61949" y="1071076"/>
            <a:ext cx="11495754" cy="714373"/>
          </a:xfrm>
        </p:spPr>
        <p:txBody>
          <a:bodyPr/>
          <a:lstStyle/>
          <a:p>
            <a:r>
              <a:rPr lang="de-DE" dirty="0"/>
              <a:t>Nachrichten und Selbstaufruf</a:t>
            </a:r>
          </a:p>
        </p:txBody>
      </p:sp>
      <p:sp>
        <p:nvSpPr>
          <p:cNvPr id="8" name="Textfeld 7"/>
          <p:cNvSpPr txBox="1"/>
          <p:nvPr/>
        </p:nvSpPr>
        <p:spPr>
          <a:xfrm>
            <a:off x="375211" y="1776676"/>
            <a:ext cx="6365343" cy="3693319"/>
          </a:xfrm>
          <a:prstGeom prst="rect">
            <a:avLst/>
          </a:prstGeom>
          <a:noFill/>
        </p:spPr>
        <p:txBody>
          <a:bodyPr wrap="square" rtlCol="0">
            <a:spAutoFit/>
          </a:bodyPr>
          <a:lstStyle/>
          <a:p>
            <a:r>
              <a:rPr lang="de-DE" dirty="0">
                <a:latin typeface="Source Sans Pro" panose="020B0503030403020204"/>
              </a:rPr>
              <a:t>Es gibt unterschiedliche Arten von Nachrichten.</a:t>
            </a:r>
          </a:p>
          <a:p>
            <a:endParaRPr lang="de-DE" dirty="0">
              <a:latin typeface="Source Sans Pro" panose="020B0503030403020204"/>
            </a:endParaRPr>
          </a:p>
          <a:p>
            <a:r>
              <a:rPr lang="de-DE" dirty="0">
                <a:latin typeface="Source Sans Pro" panose="020B0503030403020204"/>
              </a:rPr>
              <a:t>&lt;&lt;</a:t>
            </a:r>
            <a:r>
              <a:rPr lang="de-DE" dirty="0" err="1">
                <a:latin typeface="Source Sans Pro" panose="020B0503030403020204"/>
              </a:rPr>
              <a:t>create</a:t>
            </a:r>
            <a:r>
              <a:rPr lang="de-DE" dirty="0">
                <a:latin typeface="Source Sans Pro" panose="020B0503030403020204"/>
              </a:rPr>
              <a:t>&gt;&gt; erzeugt ein Objekt. Es findet eine Instanziierung einer Klasse statt.</a:t>
            </a:r>
          </a:p>
          <a:p>
            <a:endParaRPr lang="de-DE" dirty="0">
              <a:latin typeface="Source Sans Pro" panose="020B0503030403020204"/>
            </a:endParaRPr>
          </a:p>
          <a:p>
            <a:r>
              <a:rPr lang="de-DE" dirty="0">
                <a:latin typeface="Source Sans Pro" panose="020B0503030403020204"/>
              </a:rPr>
              <a:t>Geschlossene Pfeilspitze = synchrone Nachricht (Sender wartet auf Antwort)</a:t>
            </a:r>
          </a:p>
          <a:p>
            <a:endParaRPr lang="de-DE" dirty="0">
              <a:latin typeface="Source Sans Pro" panose="020B0503030403020204"/>
            </a:endParaRPr>
          </a:p>
          <a:p>
            <a:r>
              <a:rPr lang="de-DE" dirty="0">
                <a:latin typeface="Source Sans Pro" panose="020B0503030403020204"/>
              </a:rPr>
              <a:t>Offene Pfeilspitze = asynchrone Nachricht (Sender erwartet keine Antwort), somit findet in der Zeit auch keine Aktivität statt</a:t>
            </a:r>
          </a:p>
          <a:p>
            <a:endParaRPr lang="de-DE" dirty="0">
              <a:latin typeface="Source Sans Pro" panose="020B0503030403020204"/>
            </a:endParaRPr>
          </a:p>
          <a:p>
            <a:r>
              <a:rPr lang="de-DE" dirty="0">
                <a:latin typeface="Source Sans Pro" panose="020B0503030403020204"/>
              </a:rPr>
              <a:t>Gestrichelter Pfeil = kennzeichnet </a:t>
            </a:r>
            <a:r>
              <a:rPr lang="de-DE">
                <a:latin typeface="Source Sans Pro" panose="020B0503030403020204"/>
              </a:rPr>
              <a:t>eine Antwortnachricht</a:t>
            </a:r>
            <a:endParaRPr lang="de-DE" dirty="0">
              <a:latin typeface="Source Sans Pro" panose="020B0503030403020204"/>
            </a:endParaRPr>
          </a:p>
          <a:p>
            <a:endParaRPr lang="de-DE" dirty="0">
              <a:latin typeface="Source Sans Pro" panose="020B0503030403020204"/>
            </a:endParaRPr>
          </a:p>
        </p:txBody>
      </p:sp>
      <p:pic>
        <p:nvPicPr>
          <p:cNvPr id="2" name="Grafik 1"/>
          <p:cNvPicPr>
            <a:picLocks noChangeAspect="1"/>
          </p:cNvPicPr>
          <p:nvPr/>
        </p:nvPicPr>
        <p:blipFill>
          <a:blip r:embed="rId2"/>
          <a:stretch>
            <a:fillRect/>
          </a:stretch>
        </p:blipFill>
        <p:spPr>
          <a:xfrm>
            <a:off x="6695153" y="743702"/>
            <a:ext cx="5162550" cy="4533900"/>
          </a:xfrm>
          <a:prstGeom prst="rect">
            <a:avLst/>
          </a:prstGeom>
        </p:spPr>
      </p:pic>
    </p:spTree>
    <p:extLst>
      <p:ext uri="{BB962C8B-B14F-4D97-AF65-F5344CB8AC3E}">
        <p14:creationId xmlns:p14="http://schemas.microsoft.com/office/powerpoint/2010/main" val="2227690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t>Verzweigung und Schleifen</a:t>
            </a:r>
          </a:p>
        </p:txBody>
      </p:sp>
      <p:sp>
        <p:nvSpPr>
          <p:cNvPr id="8" name="Textfeld 7"/>
          <p:cNvSpPr txBox="1"/>
          <p:nvPr/>
        </p:nvSpPr>
        <p:spPr>
          <a:xfrm>
            <a:off x="420612" y="2356642"/>
            <a:ext cx="5987228" cy="2862322"/>
          </a:xfrm>
          <a:prstGeom prst="rect">
            <a:avLst/>
          </a:prstGeom>
          <a:noFill/>
        </p:spPr>
        <p:txBody>
          <a:bodyPr wrap="square" rtlCol="0">
            <a:spAutoFit/>
          </a:bodyPr>
          <a:lstStyle/>
          <a:p>
            <a:r>
              <a:rPr lang="de-DE" dirty="0">
                <a:latin typeface="Source Sans Pro" panose="020B0503030403020204"/>
              </a:rPr>
              <a:t>In einem Sequenz Diagramm können Verzweigungen und Schleifen modelliert werden.</a:t>
            </a:r>
          </a:p>
          <a:p>
            <a:endParaRPr lang="de-DE" dirty="0">
              <a:latin typeface="Source Sans Pro" panose="020B0503030403020204"/>
            </a:endParaRPr>
          </a:p>
          <a:p>
            <a:r>
              <a:rPr lang="de-DE" dirty="0">
                <a:latin typeface="Source Sans Pro" panose="020B0503030403020204"/>
              </a:rPr>
              <a:t>alt: steht für Alternative und stellt </a:t>
            </a:r>
            <a:r>
              <a:rPr lang="de-DE" dirty="0" err="1">
                <a:latin typeface="Source Sans Pro" panose="020B0503030403020204"/>
              </a:rPr>
              <a:t>If</a:t>
            </a:r>
            <a:r>
              <a:rPr lang="de-DE" dirty="0">
                <a:latin typeface="Source Sans Pro" panose="020B0503030403020204"/>
              </a:rPr>
              <a:t>-Else dar</a:t>
            </a:r>
          </a:p>
          <a:p>
            <a:endParaRPr lang="de-DE" dirty="0">
              <a:latin typeface="Source Sans Pro" panose="020B0503030403020204"/>
            </a:endParaRPr>
          </a:p>
          <a:p>
            <a:r>
              <a:rPr lang="de-DE" dirty="0" err="1">
                <a:latin typeface="Source Sans Pro" panose="020B0503030403020204"/>
              </a:rPr>
              <a:t>opt</a:t>
            </a:r>
            <a:r>
              <a:rPr lang="de-DE" dirty="0">
                <a:latin typeface="Source Sans Pro" panose="020B0503030403020204"/>
              </a:rPr>
              <a:t>: steht für Optional und stellt </a:t>
            </a:r>
            <a:r>
              <a:rPr lang="de-DE" dirty="0" err="1">
                <a:latin typeface="Source Sans Pro" panose="020B0503030403020204"/>
              </a:rPr>
              <a:t>If</a:t>
            </a:r>
            <a:r>
              <a:rPr lang="de-DE" dirty="0">
                <a:latin typeface="Source Sans Pro" panose="020B0503030403020204"/>
              </a:rPr>
              <a:t> dar</a:t>
            </a:r>
          </a:p>
          <a:p>
            <a:endParaRPr lang="de-DE" dirty="0">
              <a:latin typeface="Source Sans Pro" panose="020B0503030403020204"/>
            </a:endParaRPr>
          </a:p>
          <a:p>
            <a:r>
              <a:rPr lang="de-DE" dirty="0" err="1">
                <a:latin typeface="Source Sans Pro" panose="020B0503030403020204"/>
              </a:rPr>
              <a:t>loop</a:t>
            </a:r>
            <a:r>
              <a:rPr lang="de-DE" dirty="0">
                <a:latin typeface="Source Sans Pro" panose="020B0503030403020204"/>
              </a:rPr>
              <a:t>: modelliert eine Schleife</a:t>
            </a:r>
          </a:p>
          <a:p>
            <a:endParaRPr lang="de-DE" dirty="0">
              <a:latin typeface="Source Sans Pro" panose="020B0503030403020204"/>
            </a:endParaRPr>
          </a:p>
          <a:p>
            <a:r>
              <a:rPr lang="de-DE" dirty="0">
                <a:latin typeface="Source Sans Pro" panose="020B0503030403020204"/>
              </a:rPr>
              <a:t>Bedingungen werden in [ ] geschrieben</a:t>
            </a:r>
          </a:p>
        </p:txBody>
      </p:sp>
      <p:pic>
        <p:nvPicPr>
          <p:cNvPr id="6" name="Grafik 5"/>
          <p:cNvPicPr>
            <a:picLocks noChangeAspect="1"/>
          </p:cNvPicPr>
          <p:nvPr/>
        </p:nvPicPr>
        <p:blipFill>
          <a:blip r:embed="rId2"/>
          <a:stretch>
            <a:fillRect/>
          </a:stretch>
        </p:blipFill>
        <p:spPr>
          <a:xfrm>
            <a:off x="6407840" y="296104"/>
            <a:ext cx="5657850" cy="5391150"/>
          </a:xfrm>
          <a:prstGeom prst="rect">
            <a:avLst/>
          </a:prstGeom>
        </p:spPr>
      </p:pic>
    </p:spTree>
    <p:extLst>
      <p:ext uri="{BB962C8B-B14F-4D97-AF65-F5344CB8AC3E}">
        <p14:creationId xmlns:p14="http://schemas.microsoft.com/office/powerpoint/2010/main" val="198045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4437889" y="2101561"/>
            <a:ext cx="6310468" cy="707704"/>
          </a:xfrm>
        </p:spPr>
        <p:txBody>
          <a:bodyPr>
            <a:noAutofit/>
          </a:bodyPr>
          <a:lstStyle/>
          <a:p>
            <a:r>
              <a:rPr lang="de-DE" sz="6600" dirty="0">
                <a:latin typeface="Source Sans Pro" panose="020B0503030403020204" pitchFamily="34" charset="0"/>
              </a:rPr>
              <a:t>Übungsaufgabe</a:t>
            </a:r>
          </a:p>
        </p:txBody>
      </p:sp>
    </p:spTree>
    <p:extLst>
      <p:ext uri="{BB962C8B-B14F-4D97-AF65-F5344CB8AC3E}">
        <p14:creationId xmlns:p14="http://schemas.microsoft.com/office/powerpoint/2010/main" val="3860030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Übungsaufgabe</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61949" y="1271591"/>
            <a:ext cx="11495754" cy="413826"/>
          </a:xfrm>
        </p:spPr>
        <p:txBody>
          <a:bodyPr/>
          <a:lstStyle/>
          <a:p>
            <a:endParaRPr lang="de-DE" dirty="0"/>
          </a:p>
        </p:txBody>
      </p:sp>
      <p:sp>
        <p:nvSpPr>
          <p:cNvPr id="8" name="Textfeld 7"/>
          <p:cNvSpPr txBox="1"/>
          <p:nvPr/>
        </p:nvSpPr>
        <p:spPr>
          <a:xfrm>
            <a:off x="358138" y="1843615"/>
            <a:ext cx="11437091" cy="2308324"/>
          </a:xfrm>
          <a:prstGeom prst="rect">
            <a:avLst/>
          </a:prstGeom>
          <a:noFill/>
        </p:spPr>
        <p:txBody>
          <a:bodyPr wrap="square" rtlCol="0">
            <a:spAutoFit/>
          </a:bodyPr>
          <a:lstStyle/>
          <a:p>
            <a:r>
              <a:rPr lang="de-DE" dirty="0">
                <a:latin typeface="Source Sans Pro" panose="020B0503030403020204"/>
              </a:rPr>
              <a:t>Erstellen Sie zum folgenden Programmablauf ein Sequenz-Diagramm:</a:t>
            </a:r>
          </a:p>
          <a:p>
            <a:endParaRPr lang="de-DE" dirty="0">
              <a:latin typeface="Source Sans Pro" panose="020B0503030403020204"/>
            </a:endParaRPr>
          </a:p>
          <a:p>
            <a:r>
              <a:rPr lang="de-DE" dirty="0">
                <a:latin typeface="Source Sans Pro" panose="020B0503030403020204"/>
              </a:rPr>
              <a:t>Die Steuerung </a:t>
            </a:r>
            <a:r>
              <a:rPr lang="de-DE" dirty="0">
                <a:highlight>
                  <a:srgbClr val="FFFF00"/>
                </a:highlight>
                <a:latin typeface="Source Sans Pro" panose="020B0503030403020204"/>
              </a:rPr>
              <a:t>fragt jede Minute </a:t>
            </a:r>
            <a:r>
              <a:rPr lang="de-DE" dirty="0">
                <a:latin typeface="Source Sans Pro" panose="020B0503030403020204"/>
              </a:rPr>
              <a:t>vom Sensor über </a:t>
            </a:r>
            <a:r>
              <a:rPr lang="de-DE" dirty="0" err="1">
                <a:latin typeface="Source Sans Pro" panose="020B0503030403020204"/>
              </a:rPr>
              <a:t>getMesswert</a:t>
            </a:r>
            <a:r>
              <a:rPr lang="de-DE" dirty="0">
                <a:latin typeface="Source Sans Pro" panose="020B0503030403020204"/>
              </a:rPr>
              <a:t>() den aktuellen Messwert ab.</a:t>
            </a:r>
          </a:p>
          <a:p>
            <a:r>
              <a:rPr lang="de-DE" dirty="0">
                <a:latin typeface="Source Sans Pro" panose="020B0503030403020204"/>
              </a:rPr>
              <a:t>Anschließend ruft die Steuerung speichern() auf. </a:t>
            </a:r>
          </a:p>
          <a:p>
            <a:r>
              <a:rPr lang="de-DE" dirty="0">
                <a:latin typeface="Source Sans Pro" panose="020B0503030403020204"/>
              </a:rPr>
              <a:t>speichern() fragt vom Sensor die Bezeichnung ab und ruft auf der Datenbank die </a:t>
            </a:r>
            <a:r>
              <a:rPr lang="de-DE" dirty="0" err="1">
                <a:latin typeface="Source Sans Pro" panose="020B0503030403020204"/>
              </a:rPr>
              <a:t>insert</a:t>
            </a:r>
            <a:r>
              <a:rPr lang="de-DE" dirty="0">
                <a:latin typeface="Source Sans Pro" panose="020B0503030403020204"/>
              </a:rPr>
              <a:t>()-Methode auf.</a:t>
            </a:r>
          </a:p>
          <a:p>
            <a:r>
              <a:rPr lang="de-DE" dirty="0">
                <a:latin typeface="Source Sans Pro" panose="020B0503030403020204"/>
              </a:rPr>
              <a:t>Am Ende kehrt der Ablauf zum Aufrufer zurück.</a:t>
            </a:r>
          </a:p>
          <a:p>
            <a:endParaRPr lang="de-DE" dirty="0">
              <a:latin typeface="Source Sans Pro" panose="020B0503030403020204"/>
            </a:endParaRPr>
          </a:p>
          <a:p>
            <a:r>
              <a:rPr lang="de-DE" dirty="0">
                <a:latin typeface="Source Sans Pro" panose="020B0503030403020204"/>
              </a:rPr>
              <a:t>Folgendes Klassendiagramm liegt Ihnen vor:</a:t>
            </a:r>
          </a:p>
        </p:txBody>
      </p:sp>
      <p:pic>
        <p:nvPicPr>
          <p:cNvPr id="3" name="Grafik 2"/>
          <p:cNvPicPr>
            <a:picLocks noChangeAspect="1"/>
          </p:cNvPicPr>
          <p:nvPr/>
        </p:nvPicPr>
        <p:blipFill>
          <a:blip r:embed="rId2"/>
          <a:stretch>
            <a:fillRect/>
          </a:stretch>
        </p:blipFill>
        <p:spPr>
          <a:xfrm>
            <a:off x="1156354" y="4127019"/>
            <a:ext cx="8534400" cy="1104900"/>
          </a:xfrm>
          <a:prstGeom prst="rect">
            <a:avLst/>
          </a:prstGeom>
        </p:spPr>
      </p:pic>
    </p:spTree>
    <p:extLst>
      <p:ext uri="{BB962C8B-B14F-4D97-AF65-F5344CB8AC3E}">
        <p14:creationId xmlns:p14="http://schemas.microsoft.com/office/powerpoint/2010/main" val="1957571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2b76a4a-6730-490c-be8d-d7fe9755e09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F17FCD4B91F0D44A9D34BFB340DE5CE9" ma:contentTypeVersion="9" ma:contentTypeDescription="Ein neues Dokument erstellen." ma:contentTypeScope="" ma:versionID="89837adef2ff1f1c500be73c8a82dc22">
  <xsd:schema xmlns:xsd="http://www.w3.org/2001/XMLSchema" xmlns:xs="http://www.w3.org/2001/XMLSchema" xmlns:p="http://schemas.microsoft.com/office/2006/metadata/properties" xmlns:ns2="a2b76a4a-6730-490c-be8d-d7fe9755e09f" targetNamespace="http://schemas.microsoft.com/office/2006/metadata/properties" ma:root="true" ma:fieldsID="ee0ae50b0f325bc21fd7d76d429c6a21" ns2:_="">
    <xsd:import namespace="a2b76a4a-6730-490c-be8d-d7fe9755e0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b76a4a-6730-490c-be8d-d7fe9755e0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A60C13-A5F7-41B1-A7F5-F5CFCE44F9AE}">
  <ds:schemaRefs>
    <ds:schemaRef ds:uri="a2b76a4a-6730-490c-be8d-d7fe9755e09f"/>
    <ds:schemaRef ds:uri="http://schemas.openxmlformats.org/package/2006/metadata/core-properties"/>
    <ds:schemaRef ds:uri="http://purl.org/dc/terms/"/>
    <ds:schemaRef ds:uri="http://schemas.microsoft.com/office/infopath/2007/PartnerControls"/>
    <ds:schemaRef ds:uri="http://purl.org/dc/dcmitype/"/>
    <ds:schemaRef ds:uri="http://purl.org/dc/elements/1.1/"/>
    <ds:schemaRef ds:uri="http://schemas.microsoft.com/office/2006/documentManagement/typ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FD91CFB-97BE-43A1-BDCF-80A8158FBC20}">
  <ds:schemaRefs>
    <ds:schemaRef ds:uri="http://schemas.microsoft.com/sharepoint/v3/contenttype/forms"/>
  </ds:schemaRefs>
</ds:datastoreItem>
</file>

<file path=customXml/itemProps3.xml><?xml version="1.0" encoding="utf-8"?>
<ds:datastoreItem xmlns:ds="http://schemas.openxmlformats.org/officeDocument/2006/customXml" ds:itemID="{E754034F-3E71-4B81-A166-0A5BF17231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b76a4a-6730-490c-be8d-d7fe9755e0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552</Words>
  <Application>Microsoft Office PowerPoint</Application>
  <PresentationFormat>Breitbild</PresentationFormat>
  <Paragraphs>94</Paragraphs>
  <Slides>13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Arial</vt:lpstr>
      <vt:lpstr>Calibri</vt:lpstr>
      <vt:lpstr>Source Sans Pro</vt:lpstr>
      <vt:lpstr>1_Office</vt:lpstr>
      <vt:lpstr>UML Sequenzdiagramm</vt:lpstr>
      <vt:lpstr>Agenda</vt:lpstr>
      <vt:lpstr>PowerPoint-Präsentation</vt:lpstr>
      <vt:lpstr>Übersicht</vt:lpstr>
      <vt:lpstr>Übersicht</vt:lpstr>
      <vt:lpstr>PowerPoint-Präsentation</vt:lpstr>
      <vt:lpstr>Syntax</vt:lpstr>
      <vt:lpstr>Syntax</vt:lpstr>
      <vt:lpstr>Syntax</vt:lpstr>
      <vt:lpstr>Syntax</vt:lpstr>
      <vt:lpstr>PowerPoint-Präsentation</vt:lpstr>
      <vt:lpstr>Übungsaufgabe</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Sina Cirillo</cp:lastModifiedBy>
  <cp:revision>159</cp:revision>
  <cp:lastPrinted>2024-12-11T07:31:13Z</cp:lastPrinted>
  <dcterms:created xsi:type="dcterms:W3CDTF">2022-02-01T13:48:14Z</dcterms:created>
  <dcterms:modified xsi:type="dcterms:W3CDTF">2025-11-25T09:28:27Z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0x010100F17FCD4B91F0D44A9D34BFB340DE5CE9</vt:lpwstr>
  </property>
</Properties>
</file>