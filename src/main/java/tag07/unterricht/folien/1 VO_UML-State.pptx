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58" r:id="rId6"/>
    <p:sldId id="293" r:id="rId7"/>
    <p:sldId id="279" r:id="rId8"/>
    <p:sldId id="268" r:id="rId9"/>
    <p:sldId id="280" r:id="rId10"/>
    <p:sldId id="281" r:id="rId11"/>
    <p:sldId id="260" r:id="rId12"/>
    <p:sldId id="261" r:id="rId13"/>
    <p:sldId id="294" r:id="rId14"/>
    <p:sldId id="295" r:id="rId15"/>
    <p:sldId id="259"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2" d="100"/>
          <a:sy n="92" d="100"/>
        </p:scale>
        <p:origin x="84"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a Cirillo" userId="ff3c6fee-9458-4f54-8808-434556788b2e" providerId="ADAL" clId="{C6832699-4AE1-4BD0-A255-3F9F6F4B8F83}"/>
    <pc:docChg chg="modSld sldOrd">
      <pc:chgData name="Sina Cirillo" userId="ff3c6fee-9458-4f54-8808-434556788b2e" providerId="ADAL" clId="{C6832699-4AE1-4BD0-A255-3F9F6F4B8F83}" dt="2026-04-20T13:46:12.769" v="5"/>
      <pc:docMkLst>
        <pc:docMk/>
      </pc:docMkLst>
      <pc:sldChg chg="ord">
        <pc:chgData name="Sina Cirillo" userId="ff3c6fee-9458-4f54-8808-434556788b2e" providerId="ADAL" clId="{C6832699-4AE1-4BD0-A255-3F9F6F4B8F83}" dt="2026-04-20T13:46:10.921" v="3"/>
        <pc:sldMkLst>
          <pc:docMk/>
          <pc:sldMk cId="937596241" sldId="260"/>
        </pc:sldMkLst>
      </pc:sldChg>
      <pc:sldChg chg="ord">
        <pc:chgData name="Sina Cirillo" userId="ff3c6fee-9458-4f54-8808-434556788b2e" providerId="ADAL" clId="{C6832699-4AE1-4BD0-A255-3F9F6F4B8F83}" dt="2026-04-20T13:45:59.407" v="1"/>
        <pc:sldMkLst>
          <pc:docMk/>
          <pc:sldMk cId="1970022514" sldId="261"/>
        </pc:sldMkLst>
      </pc:sldChg>
      <pc:sldChg chg="ord">
        <pc:chgData name="Sina Cirillo" userId="ff3c6fee-9458-4f54-8808-434556788b2e" providerId="ADAL" clId="{C6832699-4AE1-4BD0-A255-3F9F6F4B8F83}" dt="2026-04-20T13:46:12.769" v="5"/>
        <pc:sldMkLst>
          <pc:docMk/>
          <pc:sldMk cId="1265488658" sldId="294"/>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20.04.2026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20.04.2026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20.04.2026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20.04.2026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20.04.2026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20.04.2026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20.04.2026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20.04.2026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20.04.2026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20.04.2026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20.04.2026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20.04.2026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20.04.2026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20.04.2026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20.04.2026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20.04.2026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20.04.2026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20.04.2026</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UML Zustandsdiagramm</a:t>
            </a:r>
          </a:p>
        </p:txBody>
      </p:sp>
      <p:sp>
        <p:nvSpPr>
          <p:cNvPr id="6" name="Untertitel 5"/>
          <p:cNvSpPr>
            <a:spLocks noGrp="1"/>
          </p:cNvSpPr>
          <p:nvPr>
            <p:ph type="subTitle" idx="1"/>
          </p:nvPr>
        </p:nvSpPr>
        <p:spPr/>
        <p:txBody>
          <a:bodyPr/>
          <a:lstStyle/>
          <a:p>
            <a:r>
              <a:rPr lang="de-DE" b="1" dirty="0">
                <a:latin typeface="Source Sans Pro" panose="020B0503030403020204" pitchFamily="34" charset="0"/>
              </a:rPr>
              <a:t>Objektorientierte Programmierung</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222930"/>
            <a:ext cx="10713719" cy="2308324"/>
          </a:xfrm>
          <a:prstGeom prst="rect">
            <a:avLst/>
          </a:prstGeom>
          <a:noFill/>
        </p:spPr>
        <p:txBody>
          <a:bodyPr wrap="square" rtlCol="0">
            <a:spAutoFit/>
          </a:bodyPr>
          <a:lstStyle/>
          <a:p>
            <a:endParaRPr lang="de-DE" b="1" dirty="0">
              <a:latin typeface="Source Sans Pro" panose="020B0503030403020204"/>
            </a:endParaRPr>
          </a:p>
          <a:p>
            <a:pPr marL="285750" indent="-285750">
              <a:buFontTx/>
              <a:buChar char="-"/>
            </a:pPr>
            <a:r>
              <a:rPr lang="de-DE" dirty="0">
                <a:latin typeface="Source Sans Pro" panose="020B0503030403020204"/>
              </a:rPr>
              <a:t>Übersicht</a:t>
            </a:r>
          </a:p>
          <a:p>
            <a:pPr marL="742950" lvl="1" indent="-285750">
              <a:buFontTx/>
              <a:buChar char="-"/>
            </a:pPr>
            <a:r>
              <a:rPr lang="de-DE" dirty="0">
                <a:latin typeface="Source Sans Pro" panose="020B0503030403020204"/>
              </a:rPr>
              <a:t>Beispiel</a:t>
            </a:r>
          </a:p>
          <a:p>
            <a:pPr marL="285750" indent="-285750">
              <a:buFontTx/>
              <a:buChar char="-"/>
            </a:pPr>
            <a:r>
              <a:rPr lang="de-DE" dirty="0">
                <a:latin typeface="Source Sans Pro" panose="020B0503030403020204"/>
              </a:rPr>
              <a:t>Syntax</a:t>
            </a:r>
          </a:p>
          <a:p>
            <a:pPr marL="742950" lvl="1" indent="-285750">
              <a:buFontTx/>
              <a:buChar char="-"/>
            </a:pPr>
            <a:r>
              <a:rPr lang="de-DE" dirty="0">
                <a:latin typeface="Source Sans Pro" panose="020B0503030403020204"/>
              </a:rPr>
              <a:t>Start &amp; Ende</a:t>
            </a:r>
          </a:p>
          <a:p>
            <a:pPr marL="742950" lvl="1" indent="-285750">
              <a:buFontTx/>
              <a:buChar char="-"/>
            </a:pPr>
            <a:r>
              <a:rPr lang="de-DE" dirty="0">
                <a:latin typeface="Source Sans Pro" panose="020B0503030403020204"/>
              </a:rPr>
              <a:t>Zustand</a:t>
            </a:r>
          </a:p>
          <a:p>
            <a:pPr marL="742950" lvl="1" indent="-285750">
              <a:buFontTx/>
              <a:buChar char="-"/>
            </a:pPr>
            <a:r>
              <a:rPr lang="de-DE" dirty="0">
                <a:latin typeface="Source Sans Pro" panose="020B0503030403020204"/>
              </a:rPr>
              <a:t>Zustandsübergang</a:t>
            </a:r>
          </a:p>
          <a:p>
            <a:pPr marL="285750" indent="-285750">
              <a:buFontTx/>
              <a:buChar char="-"/>
            </a:pPr>
            <a:r>
              <a:rPr lang="de-DE" dirty="0">
                <a:latin typeface="Source Sans Pro" panose="020B0503030403020204"/>
              </a:rPr>
              <a:t>Übungsaufgabe</a:t>
            </a:r>
          </a:p>
        </p:txBody>
      </p:sp>
    </p:spTree>
    <p:extLst>
      <p:ext uri="{BB962C8B-B14F-4D97-AF65-F5344CB8AC3E}">
        <p14:creationId xmlns:p14="http://schemas.microsoft.com/office/powerpoint/2010/main" val="4092280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Übersicht</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extfeld 7"/>
          <p:cNvSpPr txBox="1"/>
          <p:nvPr/>
        </p:nvSpPr>
        <p:spPr>
          <a:xfrm>
            <a:off x="425344" y="1397675"/>
            <a:ext cx="11341311" cy="2031325"/>
          </a:xfrm>
          <a:prstGeom prst="rect">
            <a:avLst/>
          </a:prstGeom>
          <a:noFill/>
        </p:spPr>
        <p:txBody>
          <a:bodyPr wrap="square" rtlCol="0">
            <a:spAutoFit/>
          </a:bodyPr>
          <a:lstStyle/>
          <a:p>
            <a:r>
              <a:rPr lang="de-DE" dirty="0">
                <a:latin typeface="Source Sans Pro" panose="020B0503030403020204"/>
              </a:rPr>
              <a:t>Ein Zustandsdiagramm (State </a:t>
            </a:r>
            <a:r>
              <a:rPr lang="de-DE" dirty="0" err="1">
                <a:latin typeface="Source Sans Pro" panose="020B0503030403020204"/>
              </a:rPr>
              <a:t>Diagram</a:t>
            </a:r>
            <a:r>
              <a:rPr lang="de-DE" dirty="0">
                <a:latin typeface="Source Sans Pro" panose="020B0503030403020204"/>
              </a:rPr>
              <a:t> / State </a:t>
            </a:r>
            <a:r>
              <a:rPr lang="de-DE" dirty="0" err="1">
                <a:latin typeface="Source Sans Pro" panose="020B0503030403020204"/>
              </a:rPr>
              <a:t>Machine</a:t>
            </a:r>
            <a:r>
              <a:rPr lang="de-DE" dirty="0">
                <a:latin typeface="Source Sans Pro" panose="020B0503030403020204"/>
              </a:rPr>
              <a:t>) wird verwendet, um Zustände eines Programmes darzustellen.</a:t>
            </a:r>
          </a:p>
          <a:p>
            <a:endParaRPr lang="de-DE" dirty="0">
              <a:latin typeface="Source Sans Pro" panose="020B0503030403020204"/>
            </a:endParaRPr>
          </a:p>
          <a:p>
            <a:r>
              <a:rPr lang="de-DE" dirty="0">
                <a:latin typeface="Source Sans Pro" panose="020B0503030403020204"/>
              </a:rPr>
              <a:t>Zustände könnten sein:</a:t>
            </a:r>
          </a:p>
          <a:p>
            <a:r>
              <a:rPr lang="de-DE" dirty="0">
                <a:latin typeface="Source Sans Pro" panose="020B0503030403020204"/>
              </a:rPr>
              <a:t>Der Getränkeautomat ist Leer.</a:t>
            </a:r>
          </a:p>
          <a:p>
            <a:r>
              <a:rPr lang="de-DE" dirty="0">
                <a:latin typeface="Source Sans Pro" panose="020B0503030403020204"/>
              </a:rPr>
              <a:t>Der Fahrkartenautomat wartet auf Münzeinwurf.</a:t>
            </a:r>
          </a:p>
          <a:p>
            <a:r>
              <a:rPr lang="de-DE" dirty="0">
                <a:latin typeface="Source Sans Pro" panose="020B0503030403020204"/>
              </a:rPr>
              <a:t>Das Kundenverwaltungsprogramm wartet auf Bestätigung oder Abbruch des Buchungsvorgangs.</a:t>
            </a:r>
          </a:p>
        </p:txBody>
      </p:sp>
    </p:spTree>
    <p:extLst>
      <p:ext uri="{BB962C8B-B14F-4D97-AF65-F5344CB8AC3E}">
        <p14:creationId xmlns:p14="http://schemas.microsoft.com/office/powerpoint/2010/main" val="3676969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495849" cy="707704"/>
          </a:xfrm>
        </p:spPr>
        <p:txBody>
          <a:bodyPr>
            <a:noAutofit/>
          </a:bodyPr>
          <a:lstStyle/>
          <a:p>
            <a:r>
              <a:rPr lang="de-DE" sz="6600" dirty="0">
                <a:latin typeface="Source Sans Pro" panose="020B0503030403020204" pitchFamily="34" charset="0"/>
              </a:rPr>
              <a:t>Syntax</a:t>
            </a:r>
          </a:p>
        </p:txBody>
      </p:sp>
    </p:spTree>
    <p:extLst>
      <p:ext uri="{BB962C8B-B14F-4D97-AF65-F5344CB8AC3E}">
        <p14:creationId xmlns:p14="http://schemas.microsoft.com/office/powerpoint/2010/main" val="3534886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Start &amp; Ende</a:t>
            </a:r>
          </a:p>
        </p:txBody>
      </p:sp>
      <p:sp>
        <p:nvSpPr>
          <p:cNvPr id="8" name="Textfeld 7"/>
          <p:cNvSpPr txBox="1"/>
          <p:nvPr/>
        </p:nvSpPr>
        <p:spPr>
          <a:xfrm>
            <a:off x="516393" y="3071815"/>
            <a:ext cx="5640568" cy="1477328"/>
          </a:xfrm>
          <a:prstGeom prst="rect">
            <a:avLst/>
          </a:prstGeom>
          <a:noFill/>
        </p:spPr>
        <p:txBody>
          <a:bodyPr wrap="square" rtlCol="0">
            <a:spAutoFit/>
          </a:bodyPr>
          <a:lstStyle/>
          <a:p>
            <a:r>
              <a:rPr lang="de-DE" dirty="0">
                <a:latin typeface="Source Sans Pro" panose="020B0503030403020204"/>
              </a:rPr>
              <a:t>Jedes Zustandsdiagramm beginnt mit dem Startknoten</a:t>
            </a:r>
          </a:p>
          <a:p>
            <a:endParaRPr lang="de-DE" dirty="0">
              <a:latin typeface="Source Sans Pro" panose="020B0503030403020204"/>
            </a:endParaRPr>
          </a:p>
          <a:p>
            <a:endParaRPr lang="de-DE" dirty="0">
              <a:latin typeface="Source Sans Pro" panose="020B0503030403020204"/>
            </a:endParaRPr>
          </a:p>
          <a:p>
            <a:r>
              <a:rPr lang="de-DE" dirty="0">
                <a:latin typeface="Source Sans Pro" panose="020B0503030403020204"/>
              </a:rPr>
              <a:t>Ein Zustandsdiagramm kann einen oder </a:t>
            </a:r>
            <a:r>
              <a:rPr lang="de-DE">
                <a:latin typeface="Source Sans Pro" panose="020B0503030403020204"/>
              </a:rPr>
              <a:t>mehrere Endpunkte haben</a:t>
            </a:r>
            <a:r>
              <a:rPr lang="de-DE" dirty="0">
                <a:latin typeface="Source Sans Pro" panose="020B0503030403020204"/>
              </a:rPr>
              <a:t>, muss aber nicht</a:t>
            </a:r>
          </a:p>
        </p:txBody>
      </p:sp>
      <p:pic>
        <p:nvPicPr>
          <p:cNvPr id="10" name="Grafik 9"/>
          <p:cNvPicPr>
            <a:picLocks noChangeAspect="1"/>
          </p:cNvPicPr>
          <p:nvPr/>
        </p:nvPicPr>
        <p:blipFill>
          <a:blip r:embed="rId2"/>
          <a:stretch>
            <a:fillRect/>
          </a:stretch>
        </p:blipFill>
        <p:spPr>
          <a:xfrm>
            <a:off x="6257925" y="3871413"/>
            <a:ext cx="876300" cy="571500"/>
          </a:xfrm>
          <a:prstGeom prst="rect">
            <a:avLst/>
          </a:prstGeom>
        </p:spPr>
      </p:pic>
      <p:pic>
        <p:nvPicPr>
          <p:cNvPr id="2" name="Grafik 1"/>
          <p:cNvPicPr>
            <a:picLocks noChangeAspect="1"/>
          </p:cNvPicPr>
          <p:nvPr/>
        </p:nvPicPr>
        <p:blipFill>
          <a:blip r:embed="rId3"/>
          <a:stretch>
            <a:fillRect/>
          </a:stretch>
        </p:blipFill>
        <p:spPr>
          <a:xfrm>
            <a:off x="2846279" y="794311"/>
            <a:ext cx="2590800" cy="1952625"/>
          </a:xfrm>
          <a:prstGeom prst="rect">
            <a:avLst/>
          </a:prstGeom>
        </p:spPr>
      </p:pic>
      <p:pic>
        <p:nvPicPr>
          <p:cNvPr id="3" name="Grafik 2">
            <a:extLst>
              <a:ext uri="{FF2B5EF4-FFF2-40B4-BE49-F238E27FC236}">
                <a16:creationId xmlns:a16="http://schemas.microsoft.com/office/drawing/2014/main" id="{20EE2822-2278-5695-6F30-775FC777EB19}"/>
              </a:ext>
            </a:extLst>
          </p:cNvPr>
          <p:cNvPicPr>
            <a:picLocks noChangeAspect="1"/>
          </p:cNvPicPr>
          <p:nvPr/>
        </p:nvPicPr>
        <p:blipFill>
          <a:blip r:embed="rId3"/>
          <a:srcRect b="50000"/>
          <a:stretch/>
        </p:blipFill>
        <p:spPr>
          <a:xfrm>
            <a:off x="6109826" y="2906596"/>
            <a:ext cx="1678096" cy="632371"/>
          </a:xfrm>
          <a:prstGeom prst="rect">
            <a:avLst/>
          </a:prstGeom>
        </p:spPr>
      </p:pic>
    </p:spTree>
    <p:extLst>
      <p:ext uri="{BB962C8B-B14F-4D97-AF65-F5344CB8AC3E}">
        <p14:creationId xmlns:p14="http://schemas.microsoft.com/office/powerpoint/2010/main" val="3357073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Zustand</a:t>
            </a:r>
          </a:p>
        </p:txBody>
      </p:sp>
      <p:sp>
        <p:nvSpPr>
          <p:cNvPr id="8" name="Textfeld 7"/>
          <p:cNvSpPr txBox="1"/>
          <p:nvPr/>
        </p:nvSpPr>
        <p:spPr>
          <a:xfrm>
            <a:off x="420612" y="3071815"/>
            <a:ext cx="11437092" cy="1200329"/>
          </a:xfrm>
          <a:prstGeom prst="rect">
            <a:avLst/>
          </a:prstGeom>
          <a:noFill/>
        </p:spPr>
        <p:txBody>
          <a:bodyPr wrap="square" rtlCol="0">
            <a:spAutoFit/>
          </a:bodyPr>
          <a:lstStyle/>
          <a:p>
            <a:r>
              <a:rPr lang="de-DE" dirty="0">
                <a:latin typeface="Source Sans Pro" panose="020B0503030403020204"/>
              </a:rPr>
              <a:t>Ein Zustandsdiagramm besteht aus einem oder mehreren Zuständen. </a:t>
            </a:r>
          </a:p>
          <a:p>
            <a:r>
              <a:rPr lang="de-DE" dirty="0">
                <a:latin typeface="Source Sans Pro" panose="020B0503030403020204"/>
              </a:rPr>
              <a:t>Zustände haben eine Bezeichnung und optional detailliertere Angaben zu den Aktionen, die beim Betreten des Zustandes, während des Zustandes und beim Verlassen des Zustandes ausgeführt werden.</a:t>
            </a:r>
          </a:p>
          <a:p>
            <a:r>
              <a:rPr lang="de-DE" dirty="0">
                <a:latin typeface="Source Sans Pro" panose="020B0503030403020204"/>
              </a:rPr>
              <a:t>Diese Aktionen werden mit </a:t>
            </a:r>
            <a:r>
              <a:rPr lang="de-DE" dirty="0" err="1">
                <a:latin typeface="Source Sans Pro" panose="020B0503030403020204"/>
              </a:rPr>
              <a:t>entry</a:t>
            </a:r>
            <a:r>
              <a:rPr lang="de-DE" dirty="0">
                <a:latin typeface="Source Sans Pro" panose="020B0503030403020204"/>
              </a:rPr>
              <a:t>/, do/ und </a:t>
            </a:r>
            <a:r>
              <a:rPr lang="de-DE" dirty="0" err="1">
                <a:latin typeface="Source Sans Pro" panose="020B0503030403020204"/>
              </a:rPr>
              <a:t>exit</a:t>
            </a:r>
            <a:r>
              <a:rPr lang="de-DE" dirty="0">
                <a:latin typeface="Source Sans Pro" panose="020B0503030403020204"/>
              </a:rPr>
              <a:t>/ beschriftet.</a:t>
            </a:r>
          </a:p>
        </p:txBody>
      </p:sp>
      <p:pic>
        <p:nvPicPr>
          <p:cNvPr id="2" name="Grafik 1"/>
          <p:cNvPicPr>
            <a:picLocks noChangeAspect="1"/>
          </p:cNvPicPr>
          <p:nvPr/>
        </p:nvPicPr>
        <p:blipFill>
          <a:blip r:embed="rId2"/>
          <a:stretch>
            <a:fillRect/>
          </a:stretch>
        </p:blipFill>
        <p:spPr>
          <a:xfrm>
            <a:off x="2796506" y="341519"/>
            <a:ext cx="2308363" cy="2293660"/>
          </a:xfrm>
          <a:prstGeom prst="rect">
            <a:avLst/>
          </a:prstGeom>
        </p:spPr>
      </p:pic>
      <p:pic>
        <p:nvPicPr>
          <p:cNvPr id="6" name="Grafik 5"/>
          <p:cNvPicPr>
            <a:picLocks noChangeAspect="1"/>
          </p:cNvPicPr>
          <p:nvPr/>
        </p:nvPicPr>
        <p:blipFill>
          <a:blip r:embed="rId3"/>
          <a:stretch>
            <a:fillRect/>
          </a:stretch>
        </p:blipFill>
        <p:spPr>
          <a:xfrm>
            <a:off x="5752045" y="477967"/>
            <a:ext cx="3098504" cy="2020763"/>
          </a:xfrm>
          <a:prstGeom prst="rect">
            <a:avLst/>
          </a:prstGeom>
        </p:spPr>
      </p:pic>
    </p:spTree>
    <p:extLst>
      <p:ext uri="{BB962C8B-B14F-4D97-AF65-F5344CB8AC3E}">
        <p14:creationId xmlns:p14="http://schemas.microsoft.com/office/powerpoint/2010/main" val="3664353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Zustandsübergang</a:t>
            </a:r>
          </a:p>
        </p:txBody>
      </p:sp>
      <p:sp>
        <p:nvSpPr>
          <p:cNvPr id="8" name="Textfeld 7"/>
          <p:cNvSpPr txBox="1"/>
          <p:nvPr/>
        </p:nvSpPr>
        <p:spPr>
          <a:xfrm>
            <a:off x="420611" y="3071815"/>
            <a:ext cx="11437092" cy="2862322"/>
          </a:xfrm>
          <a:prstGeom prst="rect">
            <a:avLst/>
          </a:prstGeom>
          <a:noFill/>
        </p:spPr>
        <p:txBody>
          <a:bodyPr wrap="square" rtlCol="0">
            <a:spAutoFit/>
          </a:bodyPr>
          <a:lstStyle/>
          <a:p>
            <a:r>
              <a:rPr lang="de-DE" dirty="0">
                <a:latin typeface="Source Sans Pro" panose="020B0503030403020204"/>
              </a:rPr>
              <a:t>Ein Zustand kann in einen anderen Zustand wechseln (</a:t>
            </a:r>
            <a:r>
              <a:rPr lang="de-DE" dirty="0" err="1">
                <a:latin typeface="Source Sans Pro" panose="020B0503030403020204"/>
              </a:rPr>
              <a:t>transition</a:t>
            </a:r>
            <a:r>
              <a:rPr lang="de-DE">
                <a:latin typeface="Source Sans Pro" panose="020B0503030403020204"/>
              </a:rPr>
              <a:t>). </a:t>
            </a:r>
            <a:endParaRPr lang="de-DE" dirty="0">
              <a:latin typeface="Source Sans Pro" panose="020B0503030403020204"/>
            </a:endParaRPr>
          </a:p>
          <a:p>
            <a:r>
              <a:rPr lang="de-DE" dirty="0">
                <a:latin typeface="Source Sans Pro" panose="020B0503030403020204"/>
              </a:rPr>
              <a:t>Der Übergang von einem Zustand in einen anderen wird durch ein Ereignis (</a:t>
            </a:r>
            <a:r>
              <a:rPr lang="de-DE" dirty="0" err="1">
                <a:latin typeface="Source Sans Pro" panose="020B0503030403020204"/>
              </a:rPr>
              <a:t>trigger</a:t>
            </a:r>
            <a:r>
              <a:rPr lang="de-DE" dirty="0">
                <a:latin typeface="Source Sans Pro" panose="020B0503030403020204"/>
              </a:rPr>
              <a:t>) ausgelöst.</a:t>
            </a:r>
          </a:p>
          <a:p>
            <a:r>
              <a:rPr lang="de-DE" dirty="0">
                <a:latin typeface="Source Sans Pro" panose="020B0503030403020204"/>
              </a:rPr>
              <a:t>Während des Überganges kann eine Aktion (</a:t>
            </a:r>
            <a:r>
              <a:rPr lang="de-DE" dirty="0" err="1">
                <a:latin typeface="Source Sans Pro" panose="020B0503030403020204"/>
              </a:rPr>
              <a:t>action</a:t>
            </a:r>
            <a:r>
              <a:rPr lang="de-DE" dirty="0">
                <a:latin typeface="Source Sans Pro" panose="020B0503030403020204"/>
              </a:rPr>
              <a:t>) ausgeführt werden.</a:t>
            </a:r>
          </a:p>
          <a:p>
            <a:r>
              <a:rPr lang="de-DE" dirty="0">
                <a:latin typeface="Source Sans Pro" panose="020B0503030403020204"/>
              </a:rPr>
              <a:t>Der Übergang erfolgt nur, wenn eine Bedingung (</a:t>
            </a:r>
            <a:r>
              <a:rPr lang="de-DE" dirty="0" err="1">
                <a:latin typeface="Source Sans Pro" panose="020B0503030403020204"/>
              </a:rPr>
              <a:t>guard</a:t>
            </a:r>
            <a:r>
              <a:rPr lang="de-DE" dirty="0">
                <a:latin typeface="Source Sans Pro" panose="020B0503030403020204"/>
              </a:rPr>
              <a:t>) erfüllt ist.</a:t>
            </a:r>
          </a:p>
          <a:p>
            <a:endParaRPr lang="de-DE" dirty="0">
              <a:latin typeface="Source Sans Pro" panose="020B0503030403020204"/>
            </a:endParaRPr>
          </a:p>
          <a:p>
            <a:r>
              <a:rPr lang="de-DE" dirty="0">
                <a:latin typeface="Source Sans Pro" panose="020B0503030403020204"/>
              </a:rPr>
              <a:t>Die Reihenfolge der Pfeilbeschriftung kann unterschiedlich sein.</a:t>
            </a:r>
          </a:p>
          <a:p>
            <a:r>
              <a:rPr lang="de-DE" dirty="0">
                <a:latin typeface="Source Sans Pro" panose="020B0503030403020204"/>
              </a:rPr>
              <a:t>Dia verwendet Ereignis/Aktion[Bedingung], in IHK Prüfungen wird gerne Ereignis[Bedingung]/Aktion verwendet</a:t>
            </a:r>
          </a:p>
          <a:p>
            <a:endParaRPr lang="de-DE" dirty="0">
              <a:latin typeface="Source Sans Pro" panose="020B0503030403020204"/>
            </a:endParaRPr>
          </a:p>
          <a:p>
            <a:r>
              <a:rPr lang="de-DE" dirty="0">
                <a:latin typeface="Source Sans Pro" panose="020B0503030403020204"/>
              </a:rPr>
              <a:t>Es müssen nicht immer alle Informationen angegeben werden. Bedingungen sind wichtig, wenn ein Zustand in einen von mehreren Zuständen wechseln kann.</a:t>
            </a:r>
          </a:p>
        </p:txBody>
      </p:sp>
      <p:pic>
        <p:nvPicPr>
          <p:cNvPr id="2" name="Grafik 1"/>
          <p:cNvPicPr>
            <a:picLocks noChangeAspect="1"/>
          </p:cNvPicPr>
          <p:nvPr/>
        </p:nvPicPr>
        <p:blipFill>
          <a:blip r:embed="rId2"/>
          <a:stretch>
            <a:fillRect/>
          </a:stretch>
        </p:blipFill>
        <p:spPr>
          <a:xfrm>
            <a:off x="1329990" y="1753581"/>
            <a:ext cx="2780650" cy="1318234"/>
          </a:xfrm>
          <a:prstGeom prst="rect">
            <a:avLst/>
          </a:prstGeom>
        </p:spPr>
      </p:pic>
      <p:pic>
        <p:nvPicPr>
          <p:cNvPr id="7" name="Grafik 6"/>
          <p:cNvPicPr>
            <a:picLocks noChangeAspect="1"/>
          </p:cNvPicPr>
          <p:nvPr/>
        </p:nvPicPr>
        <p:blipFill>
          <a:blip r:embed="rId3"/>
          <a:stretch>
            <a:fillRect/>
          </a:stretch>
        </p:blipFill>
        <p:spPr>
          <a:xfrm>
            <a:off x="4355063" y="509154"/>
            <a:ext cx="7120457" cy="2528631"/>
          </a:xfrm>
          <a:prstGeom prst="rect">
            <a:avLst/>
          </a:prstGeom>
        </p:spPr>
      </p:pic>
    </p:spTree>
    <p:extLst>
      <p:ext uri="{BB962C8B-B14F-4D97-AF65-F5344CB8AC3E}">
        <p14:creationId xmlns:p14="http://schemas.microsoft.com/office/powerpoint/2010/main" val="2902224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495849" cy="707704"/>
          </a:xfrm>
        </p:spPr>
        <p:txBody>
          <a:bodyPr>
            <a:noAutofit/>
          </a:bodyPr>
          <a:lstStyle/>
          <a:p>
            <a:r>
              <a:rPr lang="de-DE" sz="6600" dirty="0">
                <a:latin typeface="Source Sans Pro" panose="020B0503030403020204" pitchFamily="34" charset="0"/>
              </a:rPr>
              <a:t>Übersicht</a:t>
            </a:r>
          </a:p>
        </p:txBody>
      </p:sp>
    </p:spTree>
    <p:extLst>
      <p:ext uri="{BB962C8B-B14F-4D97-AF65-F5344CB8AC3E}">
        <p14:creationId xmlns:p14="http://schemas.microsoft.com/office/powerpoint/2010/main" val="937596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Beispiel</a:t>
            </a:r>
          </a:p>
        </p:txBody>
      </p:sp>
      <p:sp>
        <p:nvSpPr>
          <p:cNvPr id="9"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Übersicht</a:t>
            </a:r>
            <a:endParaRPr lang="de-DE" sz="2000" b="0" i="1" dirty="0">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1601325" y="1104065"/>
            <a:ext cx="9269190" cy="4846493"/>
          </a:xfrm>
          <a:prstGeom prst="rect">
            <a:avLst/>
          </a:prstGeom>
        </p:spPr>
      </p:pic>
    </p:spTree>
    <p:extLst>
      <p:ext uri="{BB962C8B-B14F-4D97-AF65-F5344CB8AC3E}">
        <p14:creationId xmlns:p14="http://schemas.microsoft.com/office/powerpoint/2010/main" val="1970022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4303777" y="2101561"/>
            <a:ext cx="6444580" cy="707704"/>
          </a:xfrm>
        </p:spPr>
        <p:txBody>
          <a:bodyPr>
            <a:noAutofit/>
          </a:bodyPr>
          <a:lstStyle/>
          <a:p>
            <a:r>
              <a:rPr lang="de-DE" sz="6600" dirty="0">
                <a:latin typeface="Source Sans Pro" panose="020B0503030403020204" pitchFamily="34" charset="0"/>
              </a:rPr>
              <a:t>Übungsaufgabe</a:t>
            </a:r>
          </a:p>
        </p:txBody>
      </p:sp>
    </p:spTree>
    <p:extLst>
      <p:ext uri="{BB962C8B-B14F-4D97-AF65-F5344CB8AC3E}">
        <p14:creationId xmlns:p14="http://schemas.microsoft.com/office/powerpoint/2010/main" val="1265488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Übungsaufgabe</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extfeld 7"/>
          <p:cNvSpPr txBox="1"/>
          <p:nvPr/>
        </p:nvSpPr>
        <p:spPr>
          <a:xfrm>
            <a:off x="377454" y="1629613"/>
            <a:ext cx="11437092" cy="2585323"/>
          </a:xfrm>
          <a:prstGeom prst="rect">
            <a:avLst/>
          </a:prstGeom>
          <a:noFill/>
        </p:spPr>
        <p:txBody>
          <a:bodyPr wrap="square" rtlCol="0">
            <a:spAutoFit/>
          </a:bodyPr>
          <a:lstStyle/>
          <a:p>
            <a:r>
              <a:rPr lang="de-DE" dirty="0">
                <a:latin typeface="Source Sans Pro" panose="020B0503030403020204"/>
              </a:rPr>
              <a:t>Erstellen Sie zur folgenden Situation ein Zustandsdiagramm:</a:t>
            </a:r>
          </a:p>
          <a:p>
            <a:endParaRPr lang="de-DE" dirty="0">
              <a:latin typeface="Source Sans Pro" panose="020B0503030403020204"/>
            </a:endParaRPr>
          </a:p>
          <a:p>
            <a:r>
              <a:rPr lang="de-DE" dirty="0">
                <a:latin typeface="Source Sans Pro" panose="020B0503030403020204"/>
              </a:rPr>
              <a:t>Wird der Automat eingeschaltet, befindet er sich im Zustand „Inaktiv“.</a:t>
            </a:r>
          </a:p>
          <a:p>
            <a:r>
              <a:rPr lang="de-DE" dirty="0">
                <a:latin typeface="Source Sans Pro" panose="020B0503030403020204"/>
              </a:rPr>
              <a:t>Beim Eintritt in den Zustand „Inaktiv“ wird der Bildschirmschoner aktiviert.</a:t>
            </a:r>
          </a:p>
          <a:p>
            <a:r>
              <a:rPr lang="de-DE" dirty="0">
                <a:latin typeface="Source Sans Pro" panose="020B0503030403020204"/>
              </a:rPr>
              <a:t>Ist ein Kunde am Automat, wechselt er in den Zustand „Aktiv“.</a:t>
            </a:r>
          </a:p>
          <a:p>
            <a:r>
              <a:rPr lang="de-DE" dirty="0">
                <a:latin typeface="Source Sans Pro" panose="020B0503030403020204"/>
              </a:rPr>
              <a:t>Beim Eintritt in den Zustand „Aktiv“ wird das Menü angezeigt.</a:t>
            </a:r>
          </a:p>
          <a:p>
            <a:r>
              <a:rPr lang="de-DE" dirty="0">
                <a:latin typeface="Source Sans Pro" panose="020B0503030403020204"/>
              </a:rPr>
              <a:t>Interagiert der Kunde mit dem Automat, wechselt er in den Zustand „In Verwendung“.</a:t>
            </a:r>
          </a:p>
          <a:p>
            <a:r>
              <a:rPr lang="de-DE" dirty="0">
                <a:latin typeface="Source Sans Pro" panose="020B0503030403020204"/>
              </a:rPr>
              <a:t>Ist die Interaktion abgeschlossen, wird zurück in „Aktiv“ gewechselt.</a:t>
            </a:r>
          </a:p>
          <a:p>
            <a:r>
              <a:rPr lang="de-DE" dirty="0">
                <a:latin typeface="Source Sans Pro" panose="020B0503030403020204"/>
              </a:rPr>
              <a:t>Wird kein Kunde am Automat festgestellt, wird zurück in „Inaktiv“ gewechselt.</a:t>
            </a:r>
          </a:p>
        </p:txBody>
      </p:sp>
    </p:spTree>
    <p:extLst>
      <p:ext uri="{BB962C8B-B14F-4D97-AF65-F5344CB8AC3E}">
        <p14:creationId xmlns:p14="http://schemas.microsoft.com/office/powerpoint/2010/main" val="2425250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Benutzerdefiniert 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2b76a4a-6730-490c-be8d-d7fe9755e09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F17FCD4B91F0D44A9D34BFB340DE5CE9" ma:contentTypeVersion="9" ma:contentTypeDescription="Ein neues Dokument erstellen." ma:contentTypeScope="" ma:versionID="89837adef2ff1f1c500be73c8a82dc22">
  <xsd:schema xmlns:xsd="http://www.w3.org/2001/XMLSchema" xmlns:xs="http://www.w3.org/2001/XMLSchema" xmlns:p="http://schemas.microsoft.com/office/2006/metadata/properties" xmlns:ns2="a2b76a4a-6730-490c-be8d-d7fe9755e09f" targetNamespace="http://schemas.microsoft.com/office/2006/metadata/properties" ma:root="true" ma:fieldsID="ee0ae50b0f325bc21fd7d76d429c6a21" ns2:_="">
    <xsd:import namespace="a2b76a4a-6730-490c-be8d-d7fe9755e0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b76a4a-6730-490c-be8d-d7fe9755e0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ildmarkierungen" ma:readOnly="false" ma:fieldId="{5cf76f15-5ced-4ddc-b409-7134ff3c332f}" ma:taxonomyMulti="true" ma:sspId="9f0a14e0-267a-4aec-938c-d787320d60ad"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C902AB-5D41-4D16-9FA2-1716860C7125}">
  <ds:schemaRefs>
    <ds:schemaRef ds:uri="http://schemas.microsoft.com/office/2006/metadata/properties"/>
    <ds:schemaRef ds:uri="http://schemas.microsoft.com/office/infopath/2007/PartnerControls"/>
    <ds:schemaRef ds:uri="a2b76a4a-6730-490c-be8d-d7fe9755e09f"/>
  </ds:schemaRefs>
</ds:datastoreItem>
</file>

<file path=customXml/itemProps2.xml><?xml version="1.0" encoding="utf-8"?>
<ds:datastoreItem xmlns:ds="http://schemas.openxmlformats.org/officeDocument/2006/customXml" ds:itemID="{7F2A2D3C-5A03-439A-9E43-0A33D3A275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b76a4a-6730-490c-be8d-d7fe9755e0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7BE119-0EB3-47D1-BA63-D242C52B0D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383</Words>
  <Application>Microsoft Office PowerPoint</Application>
  <PresentationFormat>Breitbild</PresentationFormat>
  <Paragraphs>75</Paragraphs>
  <Slides>12</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Arial</vt:lpstr>
      <vt:lpstr>Calibri</vt:lpstr>
      <vt:lpstr>Source Sans Pro</vt:lpstr>
      <vt:lpstr>1_Office</vt:lpstr>
      <vt:lpstr>UML Zustandsdiagramm</vt:lpstr>
      <vt:lpstr>Agenda</vt:lpstr>
      <vt:lpstr>Übersicht</vt:lpstr>
      <vt:lpstr>PowerPoint-Präsentation</vt:lpstr>
      <vt:lpstr>Syntax</vt:lpstr>
      <vt:lpstr>Syntax</vt:lpstr>
      <vt:lpstr>Syntax</vt:lpstr>
      <vt:lpstr>PowerPoint-Präsentation</vt:lpstr>
      <vt:lpstr>Übersicht</vt:lpstr>
      <vt:lpstr>PowerPoint-Präsentation</vt:lpstr>
      <vt:lpstr>Übungsaufgabe</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Sina Cirillo</cp:lastModifiedBy>
  <cp:revision>142</cp:revision>
  <dcterms:created xsi:type="dcterms:W3CDTF">2022-02-01T13:48:14Z</dcterms:created>
  <dcterms:modified xsi:type="dcterms:W3CDTF">2026-04-20T13:46:17Z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0x010100F17FCD4B91F0D44A9D34BFB340DE5CE9</vt:lpwstr>
  </property>
</Properties>
</file>